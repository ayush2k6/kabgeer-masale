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71" r:id="rId3"/>
    <p:sldId id="257" r:id="rId4"/>
    <p:sldId id="258" r:id="rId5"/>
    <p:sldId id="259" r:id="rId6"/>
    <p:sldId id="261" r:id="rId7"/>
    <p:sldId id="262" r:id="rId8"/>
    <p:sldId id="269" r:id="rId9"/>
    <p:sldId id="263" r:id="rId10"/>
    <p:sldId id="264" r:id="rId11"/>
    <p:sldId id="265" r:id="rId12"/>
    <p:sldId id="266" r:id="rId13"/>
    <p:sldId id="267" r:id="rId14"/>
    <p:sldId id="270" r:id="rId15"/>
    <p:sldId id="272" r:id="rId16"/>
    <p:sldId id="273" r:id="rId17"/>
    <p:sldId id="274" r:id="rId18"/>
    <p:sldId id="280" r:id="rId19"/>
    <p:sldId id="276" r:id="rId20"/>
    <p:sldId id="277" r:id="rId21"/>
    <p:sldId id="278" r:id="rId22"/>
    <p:sldId id="279" r:id="rId23"/>
    <p:sldId id="275" r:id="rId24"/>
    <p:sldId id="285" r:id="rId25"/>
    <p:sldId id="286" r:id="rId26"/>
    <p:sldId id="287" r:id="rId27"/>
    <p:sldId id="288" r:id="rId28"/>
    <p:sldId id="289" r:id="rId29"/>
    <p:sldId id="290" r:id="rId30"/>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37"/>
    <p:restoredTop sz="94454"/>
  </p:normalViewPr>
  <p:slideViewPr>
    <p:cSldViewPr>
      <p:cViewPr>
        <p:scale>
          <a:sx n="127" d="100"/>
          <a:sy n="127" d="100"/>
        </p:scale>
        <p:origin x="176" y="-2928"/>
      </p:cViewPr>
      <p:guideLst>
        <p:guide orient="horz" pos="2880"/>
        <p:guide pos="2160"/>
      </p:guideLst>
    </p:cSldViewPr>
  </p:slideViewPr>
  <p:outlineViewPr>
    <p:cViewPr>
      <p:scale>
        <a:sx n="33" d="100"/>
        <a:sy n="33" d="100"/>
      </p:scale>
      <p:origin x="0" y="-7376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DC0DAF-3142-45F5-9763-3D4CCECA3BC6}" type="datetimeFigureOut">
              <a:rPr lang="en-US" smtClean="0"/>
              <a:t>8/13/25</a:t>
            </a:fld>
            <a:endParaRPr lang="en-IN"/>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DBAECE-4D88-450C-BC77-655D09C864E4}"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DBAECE-4D88-450C-BC77-655D09C864E4}" type="slidenum">
              <a:rPr lang="en-IN" smtClean="0"/>
              <a:t>2</a:t>
            </a:fld>
            <a:endParaRPr lang="en-IN"/>
          </a:p>
        </p:txBody>
      </p:sp>
    </p:spTree>
    <p:extLst>
      <p:ext uri="{BB962C8B-B14F-4D97-AF65-F5344CB8AC3E}">
        <p14:creationId xmlns:p14="http://schemas.microsoft.com/office/powerpoint/2010/main" val="379349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3DBAECE-4D88-450C-BC77-655D09C864E4}" type="slidenum">
              <a:rPr lang="en-IN" smtClean="0"/>
              <a:t>7</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9"/>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2D78306-8369-4E1A-81D5-F44BC228EC1E}" type="datetimeFigureOut">
              <a:rPr lang="en-US" smtClean="0"/>
              <a:pPr/>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D78306-8369-4E1A-81D5-F44BC228EC1E}" type="datetimeFigureOut">
              <a:rPr lang="en-US" smtClean="0"/>
              <a:pPr/>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20"/>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D78306-8369-4E1A-81D5-F44BC228EC1E}" type="datetimeFigureOut">
              <a:rPr lang="en-US" smtClean="0"/>
              <a:pPr/>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2133602"/>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2133602"/>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D78306-8369-4E1A-81D5-F44BC228EC1E}" type="datetimeFigureOut">
              <a:rPr lang="en-US" smtClean="0"/>
              <a:pPr/>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1"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1"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70"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70"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D78306-8369-4E1A-81D5-F44BC228EC1E}" type="datetimeFigureOut">
              <a:rPr lang="en-US" smtClean="0"/>
              <a:pPr/>
              <a:t>8/13/25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D78306-8369-4E1A-81D5-F44BC228EC1E}" type="datetimeFigureOut">
              <a:rPr lang="en-US" smtClean="0"/>
              <a:pPr/>
              <a:t>8/13/25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78306-8369-4E1A-81D5-F44BC228EC1E}" type="datetimeFigureOut">
              <a:rPr lang="en-US" smtClean="0"/>
              <a:pPr/>
              <a:t>8/13/25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1"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4069"/>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1" y="1913469"/>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D78306-8369-4E1A-81D5-F44BC228EC1E}" type="datetimeFigureOut">
              <a:rPr lang="en-US" smtClean="0"/>
              <a:pPr/>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1"/>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2"/>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D78306-8369-4E1A-81D5-F44BC228EC1E}" type="datetimeFigureOut">
              <a:rPr lang="en-US" smtClean="0"/>
              <a:pPr/>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D78306-8369-4E1A-81D5-F44BC228EC1E}" type="datetimeFigureOut">
              <a:rPr lang="en-US" smtClean="0"/>
              <a:pPr/>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366186"/>
            <a:ext cx="154305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66186"/>
            <a:ext cx="451485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D78306-8369-4E1A-81D5-F44BC228EC1E}" type="datetimeFigureOut">
              <a:rPr lang="en-US" smtClean="0"/>
              <a:pPr/>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62C2-B72A-4B87-B7AB-899CCC9CCEE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2"/>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6"/>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D2D78306-8369-4E1A-81D5-F44BC228EC1E}" type="datetimeFigureOut">
              <a:rPr lang="en-US" smtClean="0"/>
              <a:pPr/>
              <a:t>8/13/25</a:t>
            </a:fld>
            <a:endParaRPr lang="en-US"/>
          </a:p>
        </p:txBody>
      </p:sp>
      <p:sp>
        <p:nvSpPr>
          <p:cNvPr id="5" name="Footer Placeholder 4"/>
          <p:cNvSpPr>
            <a:spLocks noGrp="1"/>
          </p:cNvSpPr>
          <p:nvPr>
            <p:ph type="ftr" sz="quarter" idx="3"/>
          </p:nvPr>
        </p:nvSpPr>
        <p:spPr>
          <a:xfrm>
            <a:off x="2343150" y="8475136"/>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6"/>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D63762C2-B72A-4B87-B7AB-899CCC9CCEE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4350" y="3221568"/>
            <a:ext cx="5829300" cy="1960033"/>
          </a:xfrm>
        </p:spPr>
        <p:txBody>
          <a:bodyPr>
            <a:normAutofit/>
          </a:bodyPr>
          <a:lstStyle/>
          <a:p>
            <a:r>
              <a:rPr lang="en-US" sz="5400" b="1" dirty="0">
                <a:latin typeface="Aharoni" pitchFamily="2" charset="-79"/>
                <a:cs typeface="Aharoni" pitchFamily="2" charset="-79"/>
              </a:rPr>
              <a:t>Masala Recipe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03200"/>
            <a:ext cx="6172200" cy="1117600"/>
          </a:xfrm>
        </p:spPr>
        <p:txBody>
          <a:bodyPr/>
          <a:lstStyle/>
          <a:p>
            <a:r>
              <a:rPr lang="en-US" sz="4000" b="1" u="sng" dirty="0"/>
              <a:t>SKU’s</a:t>
            </a:r>
            <a:endParaRPr lang="en-US" b="1" u="sng" dirty="0"/>
          </a:p>
        </p:txBody>
      </p:sp>
      <p:sp>
        <p:nvSpPr>
          <p:cNvPr id="3" name="Content Placeholder 2"/>
          <p:cNvSpPr>
            <a:spLocks noGrp="1"/>
          </p:cNvSpPr>
          <p:nvPr>
            <p:ph idx="1"/>
          </p:nvPr>
        </p:nvSpPr>
        <p:spPr>
          <a:xfrm>
            <a:off x="342900" y="1320800"/>
            <a:ext cx="6172200" cy="7366000"/>
          </a:xfrm>
        </p:spPr>
        <p:txBody>
          <a:bodyPr>
            <a:normAutofit fontScale="92500" lnSpcReduction="10000"/>
          </a:bodyPr>
          <a:lstStyle/>
          <a:p>
            <a:pPr marL="514350" indent="-514350">
              <a:buFont typeface="+mj-lt"/>
              <a:buAutoNum type="arabicPeriod"/>
            </a:pPr>
            <a:r>
              <a:rPr lang="en-US" sz="1800" dirty="0"/>
              <a:t>Mutton Stew </a:t>
            </a:r>
            <a:r>
              <a:rPr lang="en-US" sz="1800" dirty="0" err="1"/>
              <a:t>Masala</a:t>
            </a:r>
            <a:endParaRPr lang="en-US" sz="1800" dirty="0"/>
          </a:p>
          <a:p>
            <a:pPr marL="514350" indent="-514350">
              <a:buFont typeface="+mj-lt"/>
              <a:buAutoNum type="arabicPeriod"/>
            </a:pPr>
            <a:r>
              <a:rPr lang="en-US" sz="1800" dirty="0"/>
              <a:t>Chicken Korma </a:t>
            </a:r>
            <a:r>
              <a:rPr lang="en-US" sz="1800" dirty="0" err="1"/>
              <a:t>Masala</a:t>
            </a:r>
            <a:endParaRPr lang="en-US" sz="1800" dirty="0"/>
          </a:p>
          <a:p>
            <a:pPr marL="514350" indent="-514350">
              <a:buFont typeface="+mj-lt"/>
              <a:buAutoNum type="arabicPeriod"/>
            </a:pPr>
            <a:r>
              <a:rPr lang="en-US" sz="1800" dirty="0"/>
              <a:t>Mutton </a:t>
            </a:r>
            <a:r>
              <a:rPr lang="en-US" sz="1800" dirty="0" err="1"/>
              <a:t>Nihari</a:t>
            </a:r>
            <a:r>
              <a:rPr lang="en-US" sz="1800" dirty="0"/>
              <a:t> </a:t>
            </a:r>
            <a:r>
              <a:rPr lang="en-US" sz="1800" dirty="0" err="1"/>
              <a:t>Masala</a:t>
            </a:r>
            <a:endParaRPr lang="en-US" sz="1800" dirty="0"/>
          </a:p>
          <a:p>
            <a:pPr marL="514350" indent="-514350">
              <a:buFont typeface="+mj-lt"/>
              <a:buAutoNum type="arabicPeriod"/>
            </a:pPr>
            <a:r>
              <a:rPr lang="en-US" sz="1800" dirty="0" err="1"/>
              <a:t>Shami</a:t>
            </a:r>
            <a:r>
              <a:rPr lang="en-US" sz="1800" dirty="0"/>
              <a:t> Kebab </a:t>
            </a:r>
            <a:r>
              <a:rPr lang="en-US" sz="1800" dirty="0" err="1"/>
              <a:t>Masala</a:t>
            </a:r>
            <a:endParaRPr lang="en-US" sz="1800" dirty="0"/>
          </a:p>
          <a:p>
            <a:pPr marL="514350" indent="-514350">
              <a:buFont typeface="+mj-lt"/>
              <a:buAutoNum type="arabicPeriod"/>
            </a:pPr>
            <a:r>
              <a:rPr lang="en-US" sz="1800" dirty="0" err="1"/>
              <a:t>Galauti</a:t>
            </a:r>
            <a:r>
              <a:rPr lang="en-US" sz="1800" dirty="0"/>
              <a:t> Kebab </a:t>
            </a:r>
            <a:r>
              <a:rPr lang="en-US" sz="1800" dirty="0" err="1"/>
              <a:t>Masala</a:t>
            </a:r>
            <a:endParaRPr lang="en-US" sz="1800" dirty="0"/>
          </a:p>
          <a:p>
            <a:pPr marL="514350" indent="-514350">
              <a:buFont typeface="+mj-lt"/>
              <a:buAutoNum type="arabicPeriod"/>
            </a:pPr>
            <a:r>
              <a:rPr lang="en-US" sz="1800" dirty="0"/>
              <a:t>Awadhi Tikka </a:t>
            </a:r>
            <a:r>
              <a:rPr lang="en-US" sz="1800" dirty="0" err="1"/>
              <a:t>Boti</a:t>
            </a:r>
            <a:r>
              <a:rPr lang="en-US" sz="1800" dirty="0"/>
              <a:t> Masala</a:t>
            </a:r>
          </a:p>
          <a:p>
            <a:pPr marL="514350" indent="-514350">
              <a:buFont typeface="+mj-lt"/>
              <a:buAutoNum type="arabicPeriod"/>
            </a:pPr>
            <a:r>
              <a:rPr lang="en-US" sz="1800" dirty="0"/>
              <a:t>Non-</a:t>
            </a:r>
            <a:r>
              <a:rPr lang="en-US" sz="1800" dirty="0" err="1"/>
              <a:t>Veg</a:t>
            </a:r>
            <a:r>
              <a:rPr lang="en-US" sz="1800" dirty="0"/>
              <a:t> Tandoori </a:t>
            </a:r>
            <a:r>
              <a:rPr lang="en-US" sz="1800" dirty="0" err="1"/>
              <a:t>Masala</a:t>
            </a:r>
            <a:endParaRPr lang="en-US" sz="1800" dirty="0"/>
          </a:p>
          <a:p>
            <a:pPr marL="514350" indent="-514350">
              <a:buFont typeface="+mj-lt"/>
              <a:buAutoNum type="arabicPeriod"/>
            </a:pPr>
            <a:r>
              <a:rPr lang="en-US" sz="1800" dirty="0" err="1"/>
              <a:t>Veg</a:t>
            </a:r>
            <a:r>
              <a:rPr lang="en-US" sz="1800" dirty="0"/>
              <a:t> Tandoori </a:t>
            </a:r>
            <a:r>
              <a:rPr lang="en-US" sz="1800" dirty="0" err="1"/>
              <a:t>Masala</a:t>
            </a:r>
            <a:endParaRPr lang="en-US" sz="1800" dirty="0"/>
          </a:p>
          <a:p>
            <a:pPr marL="514350" indent="-514350">
              <a:buFont typeface="+mj-lt"/>
              <a:buAutoNum type="arabicPeriod"/>
            </a:pPr>
            <a:r>
              <a:rPr lang="en-US" sz="1800" dirty="0"/>
              <a:t>SHAHI Garam Masala</a:t>
            </a:r>
          </a:p>
          <a:p>
            <a:pPr marL="514350" indent="-514350">
              <a:buFont typeface="+mj-lt"/>
              <a:buAutoNum type="arabicPeriod"/>
            </a:pPr>
            <a:r>
              <a:rPr lang="en-US" sz="1800" dirty="0"/>
              <a:t>Ginger </a:t>
            </a:r>
            <a:r>
              <a:rPr lang="en-US" sz="1800" dirty="0" err="1"/>
              <a:t>Masala</a:t>
            </a:r>
            <a:endParaRPr lang="en-US" sz="1800" dirty="0"/>
          </a:p>
          <a:p>
            <a:pPr marL="514350" indent="-514350">
              <a:buFont typeface="+mj-lt"/>
              <a:buAutoNum type="arabicPeriod"/>
            </a:pPr>
            <a:r>
              <a:rPr lang="en-US" sz="1800" dirty="0"/>
              <a:t>Garlic </a:t>
            </a:r>
            <a:r>
              <a:rPr lang="en-US" sz="1800" dirty="0" err="1"/>
              <a:t>Masala</a:t>
            </a:r>
            <a:endParaRPr lang="en-US" sz="1800" dirty="0"/>
          </a:p>
          <a:p>
            <a:pPr marL="514350" indent="-514350">
              <a:buFont typeface="+mj-lt"/>
              <a:buAutoNum type="arabicPeriod"/>
            </a:pPr>
            <a:r>
              <a:rPr lang="en-US" sz="1800" dirty="0"/>
              <a:t>Meat Tenderizer</a:t>
            </a:r>
          </a:p>
          <a:p>
            <a:pPr marL="514350" indent="-514350">
              <a:buFont typeface="+mj-lt"/>
              <a:buAutoNum type="arabicPeriod"/>
            </a:pPr>
            <a:r>
              <a:rPr lang="en-US" sz="1800" dirty="0" err="1"/>
              <a:t>Kadhai</a:t>
            </a:r>
            <a:r>
              <a:rPr lang="en-US" sz="1800" dirty="0"/>
              <a:t> Paneer Masala</a:t>
            </a:r>
          </a:p>
          <a:p>
            <a:pPr marL="514350" indent="-514350">
              <a:buFont typeface="+mj-lt"/>
              <a:buAutoNum type="arabicPeriod"/>
            </a:pPr>
            <a:r>
              <a:rPr lang="en-US" sz="1800" dirty="0"/>
              <a:t>Chaat Masala</a:t>
            </a:r>
          </a:p>
          <a:p>
            <a:pPr marL="514350" indent="-514350">
              <a:buFont typeface="+mj-lt"/>
              <a:buAutoNum type="arabicPeriod"/>
            </a:pPr>
            <a:r>
              <a:rPr lang="en-US" sz="1800" dirty="0"/>
              <a:t>Kitchen King Masala</a:t>
            </a:r>
          </a:p>
          <a:p>
            <a:pPr marL="514350" indent="-514350">
              <a:buFont typeface="+mj-lt"/>
              <a:buAutoNum type="arabicPeriod"/>
            </a:pPr>
            <a:r>
              <a:rPr lang="en-US" sz="1800" dirty="0"/>
              <a:t>Red Chili Powder</a:t>
            </a:r>
          </a:p>
          <a:p>
            <a:pPr marL="514350" indent="-514350">
              <a:buFont typeface="+mj-lt"/>
              <a:buAutoNum type="arabicPeriod"/>
            </a:pPr>
            <a:r>
              <a:rPr lang="en-US" sz="1800" dirty="0"/>
              <a:t>Turmeric Powder</a:t>
            </a:r>
          </a:p>
          <a:p>
            <a:pPr marL="514350" indent="-514350">
              <a:buFont typeface="+mj-lt"/>
              <a:buAutoNum type="arabicPeriod"/>
            </a:pPr>
            <a:r>
              <a:rPr lang="en-US" sz="1800" dirty="0"/>
              <a:t>Coriander Powder</a:t>
            </a:r>
          </a:p>
          <a:p>
            <a:pPr marL="514350" indent="-514350">
              <a:buFont typeface="+mj-lt"/>
              <a:buAutoNum type="arabicPeriod"/>
            </a:pPr>
            <a:r>
              <a:rPr lang="en-US" sz="1800" dirty="0"/>
              <a:t>Paneer Butter Masala</a:t>
            </a:r>
          </a:p>
          <a:p>
            <a:pPr marL="514350" indent="-514350">
              <a:buFont typeface="+mj-lt"/>
              <a:buAutoNum type="arabicPeriod"/>
            </a:pPr>
            <a:r>
              <a:rPr lang="en-US" sz="1800" dirty="0"/>
              <a:t>Chole Masala</a:t>
            </a:r>
          </a:p>
          <a:p>
            <a:pPr marL="514350" indent="-514350">
              <a:buFont typeface="+mj-lt"/>
              <a:buAutoNum type="arabicPeriod"/>
            </a:pPr>
            <a:r>
              <a:rPr lang="en-US" sz="1800" dirty="0"/>
              <a:t>Kashmiri Lal </a:t>
            </a:r>
            <a:r>
              <a:rPr lang="en-US" sz="1800" dirty="0" err="1"/>
              <a:t>mirch</a:t>
            </a:r>
            <a:r>
              <a:rPr lang="en-US" sz="1800" dirty="0"/>
              <a:t> </a:t>
            </a:r>
          </a:p>
          <a:p>
            <a:pPr marL="514350" indent="-514350">
              <a:buFont typeface="+mj-lt"/>
              <a:buAutoNum type="arabicPeriod"/>
            </a:pPr>
            <a:r>
              <a:rPr lang="en-US" sz="1800" dirty="0"/>
              <a:t>MUTTON BIRYANI MASALA</a:t>
            </a:r>
          </a:p>
          <a:p>
            <a:pPr marL="514350" indent="-514350">
              <a:buFont typeface="+mj-lt"/>
              <a:buAutoNum type="arabicPeriod"/>
            </a:pPr>
            <a:r>
              <a:rPr lang="en-US" sz="1800" dirty="0"/>
              <a:t>CHICKEN BIRYANI MASALA</a:t>
            </a:r>
          </a:p>
          <a:p>
            <a:pPr marL="514350" indent="-514350">
              <a:buFont typeface="+mj-lt"/>
              <a:buAutoNum type="arabicPeriod"/>
            </a:pPr>
            <a:r>
              <a:rPr lang="en-US" sz="1800" dirty="0"/>
              <a:t>VEG BIRYANI MASALA</a:t>
            </a:r>
          </a:p>
          <a:p>
            <a:pPr marL="514350" indent="-514350">
              <a:buFont typeface="+mj-lt"/>
              <a:buAutoNum type="arabicPeriod"/>
            </a:pPr>
            <a:r>
              <a:rPr lang="en-US" sz="1800" dirty="0"/>
              <a:t>PAV BHAJI MASALA</a:t>
            </a:r>
          </a:p>
          <a:p>
            <a:pPr marL="0" indent="0">
              <a:buNone/>
            </a:pPr>
            <a:endParaRPr lang="en-US" sz="1800" dirty="0"/>
          </a:p>
          <a:p>
            <a:pPr marL="514350" indent="-514350">
              <a:buFont typeface="+mj-lt"/>
              <a:buAutoNum type="arabicPeriod"/>
            </a:pPr>
            <a:endParaRPr lang="en-US" sz="1800" b="1" dirty="0"/>
          </a:p>
          <a:p>
            <a:pPr marL="514350" indent="-514350">
              <a:buFont typeface="+mj-lt"/>
              <a:buAutoNum type="arabicPeriod"/>
            </a:pPr>
            <a:endParaRPr lang="en-US" sz="1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01600"/>
            <a:ext cx="6000750" cy="954616"/>
          </a:xfrm>
        </p:spPr>
        <p:txBody>
          <a:bodyPr>
            <a:normAutofit/>
          </a:bodyPr>
          <a:lstStyle/>
          <a:p>
            <a:r>
              <a:rPr lang="en-US" sz="3600" b="1" dirty="0"/>
              <a:t>Mutton Stew Masala</a:t>
            </a:r>
          </a:p>
        </p:txBody>
      </p:sp>
      <p:sp>
        <p:nvSpPr>
          <p:cNvPr id="3" name="Content Placeholder 2"/>
          <p:cNvSpPr>
            <a:spLocks noGrp="1"/>
          </p:cNvSpPr>
          <p:nvPr>
            <p:ph idx="1"/>
          </p:nvPr>
        </p:nvSpPr>
        <p:spPr>
          <a:xfrm>
            <a:off x="342900" y="914401"/>
            <a:ext cx="6172200" cy="7620001"/>
          </a:xfrm>
        </p:spPr>
        <p:txBody>
          <a:bodyPr>
            <a:normAutofit/>
          </a:bodyPr>
          <a:lstStyle/>
          <a:p>
            <a:pPr>
              <a:buNone/>
            </a:pPr>
            <a:r>
              <a:rPr lang="en-US" sz="1800" b="1" dirty="0"/>
              <a:t>Ingredients:</a:t>
            </a:r>
          </a:p>
          <a:p>
            <a:pPr>
              <a:buNone/>
            </a:pPr>
            <a:r>
              <a:rPr lang="en-US" sz="1700" dirty="0"/>
              <a:t>Garlic, Cumin, Black pepper,  Chilies, Cardamom, Ginger, Cinnamon, Cassia leaf and Cloves</a:t>
            </a:r>
          </a:p>
          <a:p>
            <a:pPr>
              <a:buNone/>
            </a:pPr>
            <a:endParaRPr lang="en-US" sz="1800" b="1" dirty="0"/>
          </a:p>
          <a:p>
            <a:pPr>
              <a:buNone/>
            </a:pPr>
            <a:r>
              <a:rPr lang="en-US" sz="1800" b="1" dirty="0"/>
              <a:t>Ingredients Required</a:t>
            </a:r>
          </a:p>
          <a:p>
            <a:r>
              <a:rPr lang="en-US" sz="1600" dirty="0"/>
              <a:t>500g Mutton</a:t>
            </a:r>
          </a:p>
          <a:p>
            <a:r>
              <a:rPr lang="en-US" sz="1600" dirty="0"/>
              <a:t>6tbsp Oil</a:t>
            </a:r>
          </a:p>
          <a:p>
            <a:r>
              <a:rPr lang="en-US" sz="1600" dirty="0"/>
              <a:t>600g Onion</a:t>
            </a:r>
          </a:p>
          <a:p>
            <a:r>
              <a:rPr lang="en-US" sz="1600" dirty="0"/>
              <a:t>1tbsp Lemon Juice</a:t>
            </a:r>
          </a:p>
          <a:p>
            <a:r>
              <a:rPr lang="en-US" sz="1600" dirty="0"/>
              <a:t>2.5 tbsp </a:t>
            </a:r>
            <a:r>
              <a:rPr lang="en-US" sz="1600" b="1" dirty="0"/>
              <a:t>KABGEER MUTTON STEW MASALA</a:t>
            </a:r>
          </a:p>
          <a:p>
            <a:endParaRPr lang="en-US" sz="1800" b="1" dirty="0"/>
          </a:p>
          <a:p>
            <a:pPr>
              <a:buNone/>
            </a:pPr>
            <a:r>
              <a:rPr lang="en-US" sz="1800" b="1" dirty="0"/>
              <a:t>Steps of Cooking </a:t>
            </a:r>
            <a:r>
              <a:rPr lang="en-US" sz="1500" b="1" dirty="0"/>
              <a:t>(Serves 3-4) </a:t>
            </a:r>
            <a:r>
              <a:rPr lang="en-US" sz="1800" b="1" dirty="0"/>
              <a:t>:</a:t>
            </a:r>
          </a:p>
          <a:p>
            <a:pPr lvl="1">
              <a:buFont typeface="+mj-lt"/>
              <a:buAutoNum type="arabicPeriod"/>
            </a:pPr>
            <a:r>
              <a:rPr lang="en-US" sz="1600" dirty="0"/>
              <a:t>In a cooker add oil, mutton, onion, </a:t>
            </a:r>
            <a:r>
              <a:rPr lang="en-US" sz="1600" b="1" dirty="0"/>
              <a:t>KABGEER MUTTON STEW MASALA</a:t>
            </a:r>
            <a:r>
              <a:rPr lang="en-US" sz="1600" dirty="0"/>
              <a:t>, salt (as per taste) and 1 cup water. Close the lid and cook till 2-3 whistles on medium flame.</a:t>
            </a:r>
          </a:p>
          <a:p>
            <a:pPr lvl="1">
              <a:buFont typeface="+mj-lt"/>
              <a:buAutoNum type="arabicPeriod"/>
            </a:pPr>
            <a:r>
              <a:rPr lang="en-US" sz="1600" dirty="0"/>
              <a:t>Now open the lid, cook mutton stew till oil separates. Add lemon juice and cook for 1 min. Mutton should be tender. Remove the oil (if required).</a:t>
            </a:r>
          </a:p>
          <a:p>
            <a:pPr lvl="1">
              <a:buFont typeface="+mj-lt"/>
              <a:buAutoNum type="arabicPeriod"/>
            </a:pPr>
            <a:r>
              <a:rPr lang="en-US" sz="1600" dirty="0"/>
              <a:t>Garnish it with green coriander leaves and slit green chilies. Your mutton stew is ready to be served with </a:t>
            </a:r>
            <a:r>
              <a:rPr lang="en-US" sz="1600" dirty="0" err="1"/>
              <a:t>Rumali</a:t>
            </a:r>
            <a:r>
              <a:rPr lang="en-US" sz="1600" dirty="0"/>
              <a:t> </a:t>
            </a:r>
            <a:r>
              <a:rPr lang="en-US" sz="1600" dirty="0" err="1"/>
              <a:t>Roti</a:t>
            </a:r>
            <a:r>
              <a:rPr lang="en-US" sz="1600" dirty="0"/>
              <a:t> or Chapatti.</a:t>
            </a:r>
          </a:p>
          <a:p>
            <a:pPr lvl="1">
              <a:buNone/>
            </a:pPr>
            <a:endParaRPr lang="en-US" sz="1400" b="1" dirty="0"/>
          </a:p>
          <a:p>
            <a:pPr>
              <a:buNone/>
            </a:pPr>
            <a:r>
              <a:rPr lang="en-US" sz="1800" b="1" dirty="0"/>
              <a:t>Tip from our Chef:</a:t>
            </a:r>
          </a:p>
          <a:p>
            <a:pPr>
              <a:buNone/>
            </a:pPr>
            <a:r>
              <a:rPr lang="en-US" sz="1600" dirty="0"/>
              <a:t>Mutton should be cooked in </a:t>
            </a:r>
            <a:r>
              <a:rPr lang="en-US" sz="1600" dirty="0" err="1"/>
              <a:t>desi</a:t>
            </a:r>
            <a:r>
              <a:rPr lang="en-US" sz="1600" dirty="0"/>
              <a:t> ghee for better taste and better health.</a:t>
            </a:r>
            <a:endParaRPr lang="en-US" sz="1800" dirty="0"/>
          </a:p>
          <a:p>
            <a:pPr>
              <a:buFont typeface="+mj-lt"/>
              <a:buAutoNum type="arabicPeriod"/>
            </a:pPr>
            <a:endParaRPr lang="en-US" sz="1800" b="1" dirty="0"/>
          </a:p>
          <a:p>
            <a:endParaRPr lang="en-US" sz="1800" b="1" dirty="0"/>
          </a:p>
          <a:p>
            <a:pPr>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Chicken Korma </a:t>
            </a:r>
            <a:r>
              <a:rPr lang="en-US" sz="3200" b="1" dirty="0" err="1"/>
              <a:t>Masala</a:t>
            </a:r>
            <a:r>
              <a:rPr lang="en-US" sz="3200" dirty="0"/>
              <a:t> </a:t>
            </a:r>
            <a:endParaRPr lang="en-US" sz="3200" b="1" dirty="0"/>
          </a:p>
        </p:txBody>
      </p:sp>
      <p:sp>
        <p:nvSpPr>
          <p:cNvPr id="3" name="Content Placeholder 2"/>
          <p:cNvSpPr>
            <a:spLocks noGrp="1"/>
          </p:cNvSpPr>
          <p:nvPr>
            <p:ph idx="1"/>
          </p:nvPr>
        </p:nvSpPr>
        <p:spPr>
          <a:xfrm>
            <a:off x="228600" y="812800"/>
            <a:ext cx="6457950" cy="8229600"/>
          </a:xfrm>
        </p:spPr>
        <p:txBody>
          <a:bodyPr>
            <a:normAutofit fontScale="92500" lnSpcReduction="20000"/>
          </a:bodyPr>
          <a:lstStyle/>
          <a:p>
            <a:pPr>
              <a:buNone/>
            </a:pPr>
            <a:r>
              <a:rPr lang="en-US" sz="2000" b="1" dirty="0"/>
              <a:t>Ingredients:</a:t>
            </a:r>
            <a:endParaRPr lang="en-US" sz="1700" dirty="0"/>
          </a:p>
          <a:p>
            <a:pPr>
              <a:buNone/>
            </a:pPr>
            <a:r>
              <a:rPr lang="en-US" sz="1700" dirty="0"/>
              <a:t>Coriander, Garlic, Ginger, Chilies, Green Cardamom,  Cloves, Mace, Cassia Leaf and Turmeric</a:t>
            </a:r>
          </a:p>
          <a:p>
            <a:pPr>
              <a:buNone/>
            </a:pPr>
            <a:endParaRPr lang="en-US" sz="1800" b="1" dirty="0"/>
          </a:p>
          <a:p>
            <a:pPr>
              <a:buNone/>
            </a:pPr>
            <a:r>
              <a:rPr lang="en-US" sz="2000" b="1" dirty="0"/>
              <a:t>Ingredients Required:</a:t>
            </a:r>
          </a:p>
          <a:p>
            <a:pPr lvl="1">
              <a:buFont typeface="Arial" pitchFamily="34" charset="0"/>
              <a:buChar char="•"/>
            </a:pPr>
            <a:r>
              <a:rPr lang="en-US" sz="1600" dirty="0"/>
              <a:t>500 g Chicken</a:t>
            </a:r>
          </a:p>
          <a:p>
            <a:pPr lvl="1">
              <a:buFont typeface="Arial" pitchFamily="34" charset="0"/>
              <a:buChar char="•"/>
            </a:pPr>
            <a:r>
              <a:rPr lang="en-US" sz="1600" dirty="0"/>
              <a:t>150g Oil</a:t>
            </a:r>
          </a:p>
          <a:p>
            <a:pPr lvl="1">
              <a:buFont typeface="Arial" pitchFamily="34" charset="0"/>
              <a:buChar char="•"/>
            </a:pPr>
            <a:r>
              <a:rPr lang="en-US" sz="1600" dirty="0"/>
              <a:t>200g Onion </a:t>
            </a:r>
          </a:p>
          <a:p>
            <a:pPr lvl="1">
              <a:buFont typeface="Arial" pitchFamily="34" charset="0"/>
              <a:buChar char="•"/>
            </a:pPr>
            <a:r>
              <a:rPr lang="en-US" sz="1600" dirty="0"/>
              <a:t>15g Dry Coconut</a:t>
            </a:r>
          </a:p>
          <a:p>
            <a:pPr lvl="1">
              <a:buFont typeface="Arial" pitchFamily="34" charset="0"/>
              <a:buChar char="•"/>
            </a:pPr>
            <a:r>
              <a:rPr lang="en-US" sz="1600" dirty="0"/>
              <a:t>5-6  Foxnut (makhane)</a:t>
            </a:r>
          </a:p>
          <a:p>
            <a:pPr lvl="1">
              <a:buFont typeface="Arial" pitchFamily="34" charset="0"/>
              <a:buChar char="•"/>
            </a:pPr>
            <a:r>
              <a:rPr lang="en-US" sz="1600" dirty="0"/>
              <a:t>2 </a:t>
            </a:r>
            <a:r>
              <a:rPr lang="en-US" sz="1600" dirty="0" err="1"/>
              <a:t>tbsp</a:t>
            </a:r>
            <a:r>
              <a:rPr lang="en-US" sz="1600" dirty="0"/>
              <a:t> Curd </a:t>
            </a:r>
          </a:p>
          <a:p>
            <a:pPr lvl="1">
              <a:buFont typeface="Arial" pitchFamily="34" charset="0"/>
              <a:buChar char="•"/>
            </a:pPr>
            <a:r>
              <a:rPr lang="en-US" sz="1600" dirty="0"/>
              <a:t>1.5 </a:t>
            </a:r>
            <a:r>
              <a:rPr lang="en-US" sz="1600" dirty="0" err="1"/>
              <a:t>tbsp</a:t>
            </a:r>
            <a:r>
              <a:rPr lang="en-US" sz="1600" dirty="0"/>
              <a:t> Kewra water</a:t>
            </a:r>
          </a:p>
          <a:p>
            <a:pPr lvl="1">
              <a:buFont typeface="Arial" pitchFamily="34" charset="0"/>
              <a:buChar char="•"/>
            </a:pPr>
            <a:r>
              <a:rPr lang="en-US" sz="1600" dirty="0"/>
              <a:t>3 tbsp </a:t>
            </a:r>
            <a:r>
              <a:rPr lang="en-US" sz="1600" b="1" dirty="0"/>
              <a:t>KABGEER CHICKEN KORMA MASALA </a:t>
            </a:r>
          </a:p>
          <a:p>
            <a:pPr lvl="1">
              <a:buFont typeface="Arial" pitchFamily="34" charset="0"/>
              <a:buChar char="•"/>
            </a:pPr>
            <a:endParaRPr lang="en-US" sz="1800" b="1" dirty="0"/>
          </a:p>
          <a:p>
            <a:pPr>
              <a:buNone/>
            </a:pPr>
            <a:r>
              <a:rPr lang="en-US" sz="2000" b="1" dirty="0"/>
              <a:t>Steps of Cooking </a:t>
            </a:r>
            <a:r>
              <a:rPr lang="en-US" sz="1600" b="1" dirty="0"/>
              <a:t>(Serves 3-4) </a:t>
            </a:r>
            <a:r>
              <a:rPr lang="en-US" sz="1800" b="1" dirty="0"/>
              <a:t>:</a:t>
            </a:r>
          </a:p>
          <a:p>
            <a:pPr marL="800100" lvl="1" indent="-342900">
              <a:buFont typeface="+mj-lt"/>
              <a:buAutoNum type="arabicPeriod"/>
            </a:pPr>
            <a:r>
              <a:rPr lang="en-US" sz="1600" dirty="0"/>
              <a:t>Take a pan, keep the flame on high, add oil, fry </a:t>
            </a:r>
            <a:r>
              <a:rPr lang="en-US" sz="1600" dirty="0" err="1"/>
              <a:t>foxnuts</a:t>
            </a:r>
            <a:r>
              <a:rPr lang="en-US" sz="1600" dirty="0"/>
              <a:t> and remove it. Then, take the dry coconut, add fried </a:t>
            </a:r>
            <a:r>
              <a:rPr lang="en-US" sz="1600" dirty="0" err="1"/>
              <a:t>foxnuts</a:t>
            </a:r>
            <a:r>
              <a:rPr lang="en-US" sz="1600" dirty="0"/>
              <a:t> and make a paste out of it. Fry onions till it’s golden brown in the same oil. Remove half golden fried onions and make separate paste out of it. Keep both the pastes aside. </a:t>
            </a:r>
          </a:p>
          <a:p>
            <a:pPr marL="800100" lvl="1" indent="-342900">
              <a:buFont typeface="+mj-lt"/>
              <a:buAutoNum type="arabicPeriod"/>
            </a:pPr>
            <a:r>
              <a:rPr lang="en-US" sz="1600" dirty="0"/>
              <a:t>Add chicken in the same pan with the remaining onions, sauté for 4-5 minutes till it changes color. Add </a:t>
            </a:r>
            <a:r>
              <a:rPr lang="en-US" sz="1600" dirty="0" err="1"/>
              <a:t>foxnut</a:t>
            </a:r>
            <a:r>
              <a:rPr lang="en-US" sz="1600" dirty="0"/>
              <a:t> and dry coconut paste, fry for 2-3 </a:t>
            </a:r>
            <a:r>
              <a:rPr lang="en-US" sz="1600" dirty="0" err="1"/>
              <a:t>mins</a:t>
            </a:r>
            <a:r>
              <a:rPr lang="en-US" sz="1600" dirty="0"/>
              <a:t>. Add </a:t>
            </a:r>
            <a:r>
              <a:rPr lang="en-US" sz="1600" b="1" dirty="0"/>
              <a:t>KABGEER CHICKEN KORMA MASALA</a:t>
            </a:r>
            <a:r>
              <a:rPr lang="en-US" sz="1600" dirty="0"/>
              <a:t> and salt (as per taste), cook for 5-6 minutes. Now, add curd and cook till oil separates. Keep stirring continuously. </a:t>
            </a:r>
          </a:p>
          <a:p>
            <a:pPr marL="800100" lvl="1" indent="-342900">
              <a:buFont typeface="+mj-lt"/>
              <a:buAutoNum type="arabicPeriod"/>
            </a:pPr>
            <a:r>
              <a:rPr lang="en-US" sz="1600" dirty="0"/>
              <a:t>Add 2 cups of water for gravy as it starts boiling, add the fried onion paste to it and let it cook on low flame till chicken becomes tender. Gravy should be nice and thick. Now add </a:t>
            </a:r>
            <a:r>
              <a:rPr lang="en-US" sz="1600" dirty="0" err="1"/>
              <a:t>kewra</a:t>
            </a:r>
            <a:r>
              <a:rPr lang="en-US" sz="1600" dirty="0"/>
              <a:t> water, close the lid and cook for 2 </a:t>
            </a:r>
            <a:r>
              <a:rPr lang="en-US" sz="1600" dirty="0" err="1"/>
              <a:t>mins</a:t>
            </a:r>
            <a:r>
              <a:rPr lang="en-US" sz="1600" dirty="0"/>
              <a:t>.</a:t>
            </a:r>
          </a:p>
          <a:p>
            <a:pPr marL="800100" lvl="1" indent="-342900">
              <a:buFont typeface="+mj-lt"/>
              <a:buAutoNum type="arabicPeriod"/>
            </a:pPr>
            <a:r>
              <a:rPr lang="en-US" sz="1600" dirty="0"/>
              <a:t>Your Chicken Korma is ready to be served with </a:t>
            </a:r>
            <a:r>
              <a:rPr lang="en-US" sz="1600" dirty="0" err="1"/>
              <a:t>Rumali</a:t>
            </a:r>
            <a:r>
              <a:rPr lang="en-US" sz="1600" dirty="0"/>
              <a:t> </a:t>
            </a:r>
            <a:r>
              <a:rPr lang="en-US" sz="1600" dirty="0" err="1"/>
              <a:t>Roti</a:t>
            </a:r>
            <a:r>
              <a:rPr lang="en-US" sz="1600" dirty="0"/>
              <a:t> or </a:t>
            </a:r>
            <a:r>
              <a:rPr lang="en-US" sz="1600" dirty="0" err="1"/>
              <a:t>Sheermal</a:t>
            </a:r>
            <a:r>
              <a:rPr lang="en-US" sz="1400" dirty="0"/>
              <a:t>.</a:t>
            </a:r>
          </a:p>
          <a:p>
            <a:pPr marL="800100" lvl="1" indent="-342900">
              <a:buFont typeface="+mj-lt"/>
              <a:buAutoNum type="arabicPeriod"/>
            </a:pPr>
            <a:endParaRPr lang="en-US" sz="1400" b="1" dirty="0"/>
          </a:p>
          <a:p>
            <a:pPr>
              <a:buNone/>
            </a:pPr>
            <a:r>
              <a:rPr lang="en-US" sz="1800" b="1" dirty="0"/>
              <a:t>Tip from our Chef:</a:t>
            </a:r>
          </a:p>
          <a:p>
            <a:pPr>
              <a:buNone/>
            </a:pPr>
            <a:r>
              <a:rPr lang="en-US" sz="1800" dirty="0"/>
              <a:t>Chicken should be cooked in </a:t>
            </a:r>
            <a:r>
              <a:rPr lang="en-US" sz="1800" dirty="0" err="1"/>
              <a:t>desi</a:t>
            </a:r>
            <a:r>
              <a:rPr lang="en-US" sz="1800" dirty="0"/>
              <a:t> ghee for better taste and better health.</a:t>
            </a:r>
            <a:endParaRPr lang="en-US" sz="1800" b="1" dirty="0"/>
          </a:p>
          <a:p>
            <a:pPr>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Mutton </a:t>
            </a:r>
            <a:r>
              <a:rPr lang="en-US" sz="3200" b="1" dirty="0" err="1"/>
              <a:t>Nihari</a:t>
            </a:r>
            <a:r>
              <a:rPr lang="en-US" sz="3200" b="1" dirty="0"/>
              <a:t> Masala</a:t>
            </a:r>
            <a:r>
              <a:rPr lang="en-US" sz="3200" dirty="0"/>
              <a:t> </a:t>
            </a:r>
            <a:endParaRPr lang="en-US" sz="3200" b="1" dirty="0"/>
          </a:p>
        </p:txBody>
      </p:sp>
      <p:sp>
        <p:nvSpPr>
          <p:cNvPr id="3" name="Content Placeholder 2"/>
          <p:cNvSpPr>
            <a:spLocks noGrp="1"/>
          </p:cNvSpPr>
          <p:nvPr>
            <p:ph idx="1"/>
          </p:nvPr>
        </p:nvSpPr>
        <p:spPr>
          <a:xfrm>
            <a:off x="342900" y="711200"/>
            <a:ext cx="6172200" cy="8432800"/>
          </a:xfrm>
        </p:spPr>
        <p:txBody>
          <a:bodyPr>
            <a:normAutofit lnSpcReduction="10000"/>
          </a:bodyPr>
          <a:lstStyle/>
          <a:p>
            <a:pPr>
              <a:buNone/>
            </a:pPr>
            <a:r>
              <a:rPr lang="en-US" sz="2100" b="1" dirty="0"/>
              <a:t>Ingredients:</a:t>
            </a:r>
            <a:endParaRPr lang="en-US" sz="1600" b="1" dirty="0"/>
          </a:p>
          <a:p>
            <a:pPr>
              <a:buNone/>
            </a:pPr>
            <a:r>
              <a:rPr lang="en-US" sz="1500" dirty="0"/>
              <a:t>Garlic, Coriander, Turmeric, Aniseed, Cumin, Cinnamon, Ginger, Chilies, Cassia Leaf, Mace, Black Pepper,  Nutmeg and Cardamom. </a:t>
            </a:r>
          </a:p>
          <a:p>
            <a:pPr>
              <a:buNone/>
            </a:pPr>
            <a:endParaRPr lang="en-US" sz="1600" dirty="0"/>
          </a:p>
          <a:p>
            <a:pPr>
              <a:buNone/>
            </a:pPr>
            <a:r>
              <a:rPr lang="en-US" sz="1800" b="1" dirty="0"/>
              <a:t>Ingredients Required:</a:t>
            </a:r>
          </a:p>
          <a:p>
            <a:pPr lvl="1">
              <a:buFont typeface="Arial" pitchFamily="34" charset="0"/>
              <a:buChar char="•"/>
            </a:pPr>
            <a:r>
              <a:rPr lang="en-US" sz="1500" dirty="0"/>
              <a:t>600gMutton</a:t>
            </a:r>
          </a:p>
          <a:p>
            <a:pPr lvl="1">
              <a:buFont typeface="Arial" pitchFamily="34" charset="0"/>
              <a:buChar char="•"/>
            </a:pPr>
            <a:r>
              <a:rPr lang="en-US" sz="1500" dirty="0"/>
              <a:t>125g  Oil</a:t>
            </a:r>
          </a:p>
          <a:p>
            <a:pPr lvl="1">
              <a:buFont typeface="Arial" pitchFamily="34" charset="0"/>
              <a:buChar char="•"/>
            </a:pPr>
            <a:r>
              <a:rPr lang="en-US" sz="1500" dirty="0"/>
              <a:t>250g Onions</a:t>
            </a:r>
          </a:p>
          <a:p>
            <a:pPr lvl="1">
              <a:buFont typeface="Arial" pitchFamily="34" charset="0"/>
              <a:buChar char="•"/>
            </a:pPr>
            <a:r>
              <a:rPr lang="en-US" sz="1500" dirty="0"/>
              <a:t>4tsp Wheat Flour</a:t>
            </a:r>
          </a:p>
          <a:p>
            <a:pPr lvl="1">
              <a:buFont typeface="Arial" pitchFamily="34" charset="0"/>
              <a:buChar char="•"/>
            </a:pPr>
            <a:r>
              <a:rPr lang="en-US" sz="1500" b="1" dirty="0"/>
              <a:t>KABGEER NIHARI MASALA (SACHET 1</a:t>
            </a:r>
            <a:r>
              <a:rPr lang="en-US" sz="1500" dirty="0"/>
              <a:t>)</a:t>
            </a:r>
          </a:p>
          <a:p>
            <a:pPr lvl="1">
              <a:buFont typeface="Arial" pitchFamily="34" charset="0"/>
              <a:buChar char="•"/>
            </a:pPr>
            <a:r>
              <a:rPr lang="en-US" sz="1500" b="1" dirty="0"/>
              <a:t>KABGEER NIHARI MASALA (SACHET 2)</a:t>
            </a:r>
          </a:p>
          <a:p>
            <a:pPr lvl="1">
              <a:buFont typeface="Arial" pitchFamily="34" charset="0"/>
              <a:buChar char="•"/>
            </a:pPr>
            <a:r>
              <a:rPr lang="en-US" sz="1500" dirty="0"/>
              <a:t>1 </a:t>
            </a:r>
            <a:r>
              <a:rPr lang="en-US" sz="1500" dirty="0" err="1"/>
              <a:t>tbsp</a:t>
            </a:r>
            <a:r>
              <a:rPr lang="en-US" sz="1500" dirty="0"/>
              <a:t> Kewra water</a:t>
            </a:r>
          </a:p>
          <a:p>
            <a:pPr lvl="1">
              <a:buNone/>
            </a:pPr>
            <a:endParaRPr lang="en-US" sz="1400" dirty="0"/>
          </a:p>
          <a:p>
            <a:pPr>
              <a:buNone/>
            </a:pPr>
            <a:r>
              <a:rPr lang="en-US" sz="1800" b="1" dirty="0"/>
              <a:t>Steps of Cooking </a:t>
            </a:r>
            <a:r>
              <a:rPr lang="en-US" sz="1500" b="1" dirty="0"/>
              <a:t>(Serves 3-4) </a:t>
            </a:r>
            <a:r>
              <a:rPr lang="en-US" sz="1800" b="1" dirty="0"/>
              <a:t>:</a:t>
            </a:r>
          </a:p>
          <a:p>
            <a:pPr lvl="1">
              <a:buFont typeface="+mj-lt"/>
              <a:buAutoNum type="arabicPeriod"/>
            </a:pPr>
            <a:r>
              <a:rPr lang="en-US" sz="1500" dirty="0"/>
              <a:t>Take 125g onions (half), slice it. Sauté the onions in a cooker till golden brown. Add mutton pieces and cook till it changes color. Add left over onions (125g)</a:t>
            </a:r>
            <a:r>
              <a:rPr lang="en-US" sz="1500" b="1" dirty="0"/>
              <a:t>, KABGEER MUTTON NIHARI MASALA (sachet 1)</a:t>
            </a:r>
            <a:r>
              <a:rPr lang="en-US" sz="1500" dirty="0"/>
              <a:t> and salt as per taste. Cook for 3-4 minutes. Add 1 cup water and set for 2 whistles on low flame. Open the cooker, cook till oil separates.</a:t>
            </a:r>
          </a:p>
          <a:p>
            <a:pPr lvl="1">
              <a:buFont typeface="+mj-lt"/>
              <a:buAutoNum type="arabicPeriod"/>
            </a:pPr>
            <a:r>
              <a:rPr lang="en-US" sz="1500" dirty="0"/>
              <a:t>Take another pan, semi-roast the wheat flour. Then add </a:t>
            </a:r>
            <a:r>
              <a:rPr lang="en-US" sz="1500" b="1" dirty="0"/>
              <a:t>KABGEER MUTON NIHARI MASALA (Sachet 2) </a:t>
            </a:r>
            <a:r>
              <a:rPr lang="en-US" sz="1500" dirty="0"/>
              <a:t>and stir for 30 seconds. Let  the mixture cool down. Add half cup water in the mixture and dissolve it.</a:t>
            </a:r>
          </a:p>
          <a:p>
            <a:pPr lvl="1">
              <a:buFont typeface="+mj-lt"/>
              <a:buAutoNum type="arabicPeriod"/>
            </a:pPr>
            <a:r>
              <a:rPr lang="en-US" sz="1500" dirty="0"/>
              <a:t>Add the mixture in the cooker with 1 glass of water, stir till gravy boils. Then, cover with another lid and  let it cook for 10 </a:t>
            </a:r>
            <a:r>
              <a:rPr lang="en-US" sz="1500" dirty="0" err="1"/>
              <a:t>mins</a:t>
            </a:r>
            <a:r>
              <a:rPr lang="en-US" sz="1500" dirty="0"/>
              <a:t> on low flame.</a:t>
            </a:r>
          </a:p>
          <a:p>
            <a:pPr lvl="1">
              <a:buFont typeface="+mj-lt"/>
              <a:buAutoNum type="arabicPeriod"/>
            </a:pPr>
            <a:r>
              <a:rPr lang="en-US" sz="1500" dirty="0"/>
              <a:t>Add </a:t>
            </a:r>
            <a:r>
              <a:rPr lang="en-US" sz="1500" dirty="0" err="1"/>
              <a:t>kewra</a:t>
            </a:r>
            <a:r>
              <a:rPr lang="en-US" sz="1500" dirty="0"/>
              <a:t> water, 3 chopped green chilies and coriander leaves. Let it cook for 2 </a:t>
            </a:r>
            <a:r>
              <a:rPr lang="en-US" sz="1500" dirty="0" err="1"/>
              <a:t>mins</a:t>
            </a:r>
            <a:r>
              <a:rPr lang="en-US" sz="1500" dirty="0"/>
              <a:t> on low flame with the lid on.  After this, remove the cooker from the gas, do not open the lid and let it set for half an hour. Remove excess oil if required.</a:t>
            </a:r>
          </a:p>
          <a:p>
            <a:pPr lvl="1">
              <a:buFont typeface="+mj-lt"/>
              <a:buAutoNum type="arabicPeriod"/>
            </a:pPr>
            <a:r>
              <a:rPr lang="en-US" sz="1500" dirty="0"/>
              <a:t>Your Mutton </a:t>
            </a:r>
            <a:r>
              <a:rPr lang="en-US" sz="1500" dirty="0" err="1"/>
              <a:t>Nihari</a:t>
            </a:r>
            <a:r>
              <a:rPr lang="en-US" sz="1500" dirty="0"/>
              <a:t> is ready, to be served with </a:t>
            </a:r>
            <a:r>
              <a:rPr lang="en-US" sz="1500" dirty="0" err="1"/>
              <a:t>Kulchas</a:t>
            </a:r>
            <a:r>
              <a:rPr lang="en-US" sz="1500" dirty="0"/>
              <a:t>.</a:t>
            </a:r>
          </a:p>
          <a:p>
            <a:pPr lvl="1">
              <a:buNone/>
            </a:pPr>
            <a:endParaRPr lang="en-US" sz="1400" b="1" dirty="0"/>
          </a:p>
          <a:p>
            <a:pPr>
              <a:buNone/>
            </a:pPr>
            <a:r>
              <a:rPr lang="en-US" sz="1800" b="1" dirty="0"/>
              <a:t>Tip from our Chef:</a:t>
            </a:r>
          </a:p>
          <a:p>
            <a:pPr>
              <a:buNone/>
            </a:pPr>
            <a:r>
              <a:rPr lang="en-US" sz="1500" dirty="0"/>
              <a:t>Mutton should be cooked in </a:t>
            </a:r>
            <a:r>
              <a:rPr lang="en-US" sz="1500" dirty="0" err="1"/>
              <a:t>desi</a:t>
            </a:r>
            <a:r>
              <a:rPr lang="en-US" sz="1500" dirty="0"/>
              <a:t> ghee for better taste and better health.</a:t>
            </a:r>
            <a:endParaRPr lang="en-US" sz="1500" b="1" dirty="0"/>
          </a:p>
          <a:p>
            <a:pPr>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Shami</a:t>
            </a:r>
            <a:r>
              <a:rPr lang="en-US" sz="3200" b="1" dirty="0"/>
              <a:t> Kebab </a:t>
            </a:r>
            <a:r>
              <a:rPr lang="en-US" sz="3200" b="1" dirty="0" err="1"/>
              <a:t>Masala</a:t>
            </a:r>
            <a:endParaRPr lang="en-US" sz="3200" b="1" dirty="0"/>
          </a:p>
        </p:txBody>
      </p:sp>
      <p:sp>
        <p:nvSpPr>
          <p:cNvPr id="3" name="Content Placeholder 2"/>
          <p:cNvSpPr>
            <a:spLocks noGrp="1"/>
          </p:cNvSpPr>
          <p:nvPr>
            <p:ph idx="1"/>
          </p:nvPr>
        </p:nvSpPr>
        <p:spPr>
          <a:xfrm>
            <a:off x="342900" y="1016000"/>
            <a:ext cx="6172200" cy="7620000"/>
          </a:xfrm>
        </p:spPr>
        <p:txBody>
          <a:bodyPr>
            <a:normAutofit/>
          </a:bodyPr>
          <a:lstStyle/>
          <a:p>
            <a:pPr>
              <a:buNone/>
            </a:pPr>
            <a:r>
              <a:rPr lang="en-US" sz="1800" b="1" dirty="0"/>
              <a:t> Ingredients:</a:t>
            </a:r>
          </a:p>
          <a:p>
            <a:pPr>
              <a:buNone/>
            </a:pPr>
            <a:r>
              <a:rPr lang="en-US" sz="1600" dirty="0"/>
              <a:t>Garlic, Black Pepper, Ginger, Cumin, Aniseeds, Chilies, Black Cardamom, Cinnamon, Cassia Leaf,  Green Cardamom and Cloves</a:t>
            </a:r>
            <a:r>
              <a:rPr lang="en-US" sz="1800" dirty="0"/>
              <a:t> </a:t>
            </a:r>
            <a:endParaRPr lang="en-US" sz="1800" b="1" dirty="0"/>
          </a:p>
          <a:p>
            <a:pPr>
              <a:buNone/>
            </a:pPr>
            <a:r>
              <a:rPr lang="en-US" sz="1800" b="1" dirty="0"/>
              <a:t>Ingredients Required:</a:t>
            </a:r>
          </a:p>
          <a:p>
            <a:pPr lvl="1">
              <a:buFont typeface="Arial" pitchFamily="34" charset="0"/>
              <a:buChar char="•"/>
            </a:pPr>
            <a:r>
              <a:rPr lang="en-US" sz="1400" dirty="0"/>
              <a:t>500g Mutton </a:t>
            </a:r>
            <a:r>
              <a:rPr lang="en-US" sz="1400" dirty="0" err="1"/>
              <a:t>Keema</a:t>
            </a:r>
            <a:endParaRPr lang="en-US" sz="1400" dirty="0"/>
          </a:p>
          <a:p>
            <a:pPr lvl="1">
              <a:buFont typeface="Arial" pitchFamily="34" charset="0"/>
              <a:buChar char="•"/>
            </a:pPr>
            <a:r>
              <a:rPr lang="en-US" sz="1400" dirty="0"/>
              <a:t>125g Chana dal</a:t>
            </a:r>
          </a:p>
          <a:p>
            <a:pPr lvl="1">
              <a:buFont typeface="Arial" pitchFamily="34" charset="0"/>
              <a:buChar char="•"/>
            </a:pPr>
            <a:r>
              <a:rPr lang="en-US" sz="1400" dirty="0"/>
              <a:t>20g Dry Coconut</a:t>
            </a:r>
          </a:p>
          <a:p>
            <a:pPr lvl="1">
              <a:buFont typeface="Arial" pitchFamily="34" charset="0"/>
              <a:buChar char="•"/>
            </a:pPr>
            <a:r>
              <a:rPr lang="en-US" sz="1400" dirty="0"/>
              <a:t>275g Onion</a:t>
            </a:r>
          </a:p>
          <a:p>
            <a:pPr lvl="1">
              <a:buFont typeface="Arial" pitchFamily="34" charset="0"/>
              <a:buChar char="•"/>
            </a:pPr>
            <a:r>
              <a:rPr lang="en-US" sz="1400" dirty="0"/>
              <a:t>20g  Coriander leaves (chopped)</a:t>
            </a:r>
          </a:p>
          <a:p>
            <a:pPr lvl="1">
              <a:buFont typeface="Arial" pitchFamily="34" charset="0"/>
              <a:buChar char="•"/>
            </a:pPr>
            <a:r>
              <a:rPr lang="en-US" sz="1400" dirty="0"/>
              <a:t>3-4 Green Chilies (chopped)</a:t>
            </a:r>
          </a:p>
          <a:p>
            <a:pPr lvl="1">
              <a:buFont typeface="Arial" pitchFamily="34" charset="0"/>
              <a:buChar char="•"/>
            </a:pPr>
            <a:r>
              <a:rPr lang="en-US" sz="1400" b="1" dirty="0"/>
              <a:t>___KABGEER SHAMI KEBAB MASALA</a:t>
            </a:r>
          </a:p>
          <a:p>
            <a:pPr>
              <a:buNone/>
            </a:pPr>
            <a:r>
              <a:rPr lang="en-US" sz="1800" b="1" dirty="0"/>
              <a:t>Steps of Cooking </a:t>
            </a:r>
            <a:r>
              <a:rPr lang="en-US" sz="1400" b="1" dirty="0"/>
              <a:t>(Serves 3-4)</a:t>
            </a:r>
            <a:r>
              <a:rPr lang="en-US" sz="1800" b="1" dirty="0"/>
              <a:t> :</a:t>
            </a:r>
          </a:p>
          <a:p>
            <a:pPr marL="800100" lvl="1" indent="-342900">
              <a:buFont typeface="+mj-lt"/>
              <a:buAutoNum type="arabicPeriod"/>
            </a:pPr>
            <a:r>
              <a:rPr lang="en-US" sz="1400" dirty="0"/>
              <a:t>Add mutton keema, chana dal,</a:t>
            </a:r>
            <a:r>
              <a:rPr lang="en-US" sz="1400" b="1" dirty="0"/>
              <a:t> KABGEER SHAMI KEBAB MASALA</a:t>
            </a:r>
            <a:r>
              <a:rPr lang="en-US" sz="1400" dirty="0"/>
              <a:t>, sliced onions (200g)</a:t>
            </a:r>
            <a:r>
              <a:rPr lang="en-US" sz="1400" b="1" dirty="0"/>
              <a:t>, </a:t>
            </a:r>
            <a:r>
              <a:rPr lang="en-US" sz="1400" dirty="0"/>
              <a:t>dry coconut, salt as per taste and half cup water, close the pressure cooker’s lid and give 4-5 whistles on medium flame. Open the cooker’s lid, mixture should be dry.</a:t>
            </a:r>
          </a:p>
          <a:p>
            <a:pPr marL="800100" lvl="1" indent="-342900">
              <a:buFont typeface="+mj-lt"/>
              <a:buAutoNum type="arabicPeriod"/>
            </a:pPr>
            <a:r>
              <a:rPr lang="en-US" sz="1400" dirty="0"/>
              <a:t>Grind the mixture. Then, add chopped onions (75g), green chilies and coriander leaves to it. Mould them into round flat kebabs. Shallow fry. </a:t>
            </a:r>
          </a:p>
          <a:p>
            <a:pPr marL="800100" lvl="1" indent="-342900">
              <a:buFont typeface="+mj-lt"/>
              <a:buAutoNum type="arabicPeriod"/>
            </a:pPr>
            <a:r>
              <a:rPr lang="en-US" sz="1400" dirty="0" err="1"/>
              <a:t>Shami</a:t>
            </a:r>
            <a:r>
              <a:rPr lang="en-US" sz="1400" dirty="0"/>
              <a:t> Kebabs are ready to be served with Onion, Green Chutney and </a:t>
            </a:r>
            <a:r>
              <a:rPr lang="en-US" sz="1400" dirty="0" err="1"/>
              <a:t>Rumali</a:t>
            </a:r>
            <a:r>
              <a:rPr lang="en-US" sz="1400" dirty="0"/>
              <a:t> </a:t>
            </a:r>
            <a:r>
              <a:rPr lang="en-US" sz="1400" dirty="0" err="1"/>
              <a:t>Roti</a:t>
            </a:r>
            <a:r>
              <a:rPr lang="en-US" sz="1400" dirty="0"/>
              <a:t>.</a:t>
            </a:r>
          </a:p>
          <a:p>
            <a:pPr lvl="1">
              <a:buNone/>
            </a:pPr>
            <a:endParaRPr lang="en-US" sz="1400" b="1" dirty="0"/>
          </a:p>
          <a:p>
            <a:pPr>
              <a:buNone/>
            </a:pPr>
            <a:r>
              <a:rPr lang="en-US" sz="1800" b="1" dirty="0"/>
              <a:t>Tip from our Chef:</a:t>
            </a:r>
          </a:p>
          <a:p>
            <a:pPr>
              <a:buNone/>
            </a:pPr>
            <a:r>
              <a:rPr lang="en-US" sz="1600" dirty="0"/>
              <a:t>Chicken/mutton kebabs can be stored in freezer for 15 days.</a:t>
            </a:r>
            <a:endParaRPr lang="en-US"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Galauti</a:t>
            </a:r>
            <a:r>
              <a:rPr lang="en-US" sz="3200" b="1" dirty="0"/>
              <a:t> Kebab </a:t>
            </a:r>
            <a:r>
              <a:rPr lang="en-US" sz="3200" b="1" dirty="0" err="1"/>
              <a:t>Masala</a:t>
            </a:r>
            <a:endParaRPr lang="en-US" sz="3200" b="1" dirty="0"/>
          </a:p>
        </p:txBody>
      </p:sp>
      <p:sp>
        <p:nvSpPr>
          <p:cNvPr id="3" name="Content Placeholder 2"/>
          <p:cNvSpPr>
            <a:spLocks noGrp="1"/>
          </p:cNvSpPr>
          <p:nvPr>
            <p:ph idx="1"/>
          </p:nvPr>
        </p:nvSpPr>
        <p:spPr>
          <a:xfrm>
            <a:off x="342900" y="1016000"/>
            <a:ext cx="6172200" cy="7620000"/>
          </a:xfrm>
        </p:spPr>
        <p:txBody>
          <a:bodyPr>
            <a:normAutofit fontScale="92500" lnSpcReduction="10000"/>
          </a:bodyPr>
          <a:lstStyle/>
          <a:p>
            <a:pPr>
              <a:buNone/>
            </a:pPr>
            <a:r>
              <a:rPr lang="en-US" sz="1800" b="1" dirty="0"/>
              <a:t> Ingredients:</a:t>
            </a:r>
          </a:p>
          <a:p>
            <a:pPr>
              <a:buNone/>
            </a:pPr>
            <a:r>
              <a:rPr lang="en-US" sz="1700" dirty="0"/>
              <a:t>Cumin, Black Peppers, Black Cardamom, Chilies, Coriander, Mace, Green Cardamom, Cloves,  Cinnamon, Nutmeg and Cassia Leaf</a:t>
            </a:r>
            <a:endParaRPr lang="en-US" sz="1800" dirty="0"/>
          </a:p>
          <a:p>
            <a:pPr>
              <a:buNone/>
            </a:pPr>
            <a:endParaRPr lang="en-US" sz="1800" b="1" dirty="0"/>
          </a:p>
          <a:p>
            <a:pPr>
              <a:buNone/>
            </a:pPr>
            <a:r>
              <a:rPr lang="en-US" sz="1800" b="1" dirty="0"/>
              <a:t>Ingredients Required:</a:t>
            </a:r>
          </a:p>
          <a:p>
            <a:pPr lvl="1">
              <a:buFont typeface="Arial" pitchFamily="34" charset="0"/>
              <a:buChar char="•"/>
            </a:pPr>
            <a:r>
              <a:rPr lang="en-US" sz="1500" dirty="0"/>
              <a:t>500g Mutton </a:t>
            </a:r>
            <a:r>
              <a:rPr lang="en-US" sz="1500" dirty="0" err="1"/>
              <a:t>Keema</a:t>
            </a:r>
            <a:endParaRPr lang="en-US" sz="1500" dirty="0"/>
          </a:p>
          <a:p>
            <a:pPr lvl="1">
              <a:buFont typeface="Arial" pitchFamily="34" charset="0"/>
              <a:buChar char="•"/>
            </a:pPr>
            <a:r>
              <a:rPr lang="en-US" sz="1500" dirty="0"/>
              <a:t>2 tbsp</a:t>
            </a:r>
            <a:r>
              <a:rPr lang="en-US" sz="1500" b="1" dirty="0"/>
              <a:t> KABGEER’S MUTTON TENDERIZER</a:t>
            </a:r>
          </a:p>
          <a:p>
            <a:pPr lvl="1">
              <a:buFont typeface="Arial" pitchFamily="34" charset="0"/>
              <a:buChar char="•"/>
            </a:pPr>
            <a:r>
              <a:rPr lang="en-US" sz="1500" dirty="0"/>
              <a:t>10-12 Cashews (roasted)</a:t>
            </a:r>
          </a:p>
          <a:p>
            <a:pPr lvl="1">
              <a:buFont typeface="Arial" pitchFamily="34" charset="0"/>
              <a:buChar char="•"/>
            </a:pPr>
            <a:r>
              <a:rPr lang="en-US" sz="1500" dirty="0"/>
              <a:t>6-7 </a:t>
            </a:r>
            <a:r>
              <a:rPr lang="en-US" sz="1500" dirty="0" err="1"/>
              <a:t>tbsp</a:t>
            </a:r>
            <a:r>
              <a:rPr lang="en-US" sz="1500" dirty="0"/>
              <a:t> </a:t>
            </a:r>
            <a:r>
              <a:rPr lang="en-US" sz="1500" dirty="0" err="1"/>
              <a:t>Chironji</a:t>
            </a:r>
            <a:r>
              <a:rPr lang="en-US" sz="1500" dirty="0"/>
              <a:t> / almonds</a:t>
            </a:r>
          </a:p>
          <a:p>
            <a:pPr lvl="1">
              <a:buFont typeface="Arial" pitchFamily="34" charset="0"/>
              <a:buChar char="•"/>
            </a:pPr>
            <a:r>
              <a:rPr lang="en-US" sz="1500" dirty="0"/>
              <a:t>2 </a:t>
            </a:r>
            <a:r>
              <a:rPr lang="en-US" sz="1500" dirty="0" err="1"/>
              <a:t>tbsp</a:t>
            </a:r>
            <a:r>
              <a:rPr lang="en-US" sz="1500" dirty="0"/>
              <a:t> Poppy Seeds (</a:t>
            </a:r>
            <a:r>
              <a:rPr lang="en-US" sz="1500" dirty="0" err="1"/>
              <a:t>khus</a:t>
            </a:r>
            <a:r>
              <a:rPr lang="en-US" sz="1500" dirty="0"/>
              <a:t> </a:t>
            </a:r>
            <a:r>
              <a:rPr lang="en-US" sz="1500" dirty="0" err="1"/>
              <a:t>khus</a:t>
            </a:r>
            <a:r>
              <a:rPr lang="en-US" sz="1500" dirty="0"/>
              <a:t>)</a:t>
            </a:r>
          </a:p>
          <a:p>
            <a:pPr lvl="1">
              <a:buFont typeface="Arial" pitchFamily="34" charset="0"/>
              <a:buChar char="•"/>
            </a:pPr>
            <a:r>
              <a:rPr lang="en-US" sz="1500" dirty="0"/>
              <a:t>3 </a:t>
            </a:r>
            <a:r>
              <a:rPr lang="en-US" sz="1500" dirty="0" err="1"/>
              <a:t>tbsp</a:t>
            </a:r>
            <a:r>
              <a:rPr lang="en-US" sz="1500" dirty="0"/>
              <a:t> Roasted </a:t>
            </a:r>
            <a:r>
              <a:rPr lang="en-US" sz="1500" dirty="0" err="1"/>
              <a:t>Gramflour</a:t>
            </a:r>
            <a:r>
              <a:rPr lang="en-US" sz="1500" dirty="0"/>
              <a:t> (</a:t>
            </a:r>
            <a:r>
              <a:rPr lang="en-US" sz="1500" dirty="0" err="1"/>
              <a:t>besan</a:t>
            </a:r>
            <a:r>
              <a:rPr lang="en-US" sz="1500" dirty="0"/>
              <a:t>)</a:t>
            </a:r>
          </a:p>
          <a:p>
            <a:pPr lvl="1">
              <a:buFont typeface="Arial" pitchFamily="34" charset="0"/>
              <a:buChar char="•"/>
            </a:pPr>
            <a:r>
              <a:rPr lang="en-US" sz="1500" dirty="0"/>
              <a:t>180g  Onions (fried)</a:t>
            </a:r>
          </a:p>
          <a:p>
            <a:pPr lvl="1">
              <a:buFont typeface="Arial" pitchFamily="34" charset="0"/>
              <a:buChar char="•"/>
            </a:pPr>
            <a:r>
              <a:rPr lang="en-US" sz="1500" dirty="0"/>
              <a:t>3 </a:t>
            </a:r>
            <a:r>
              <a:rPr lang="en-US" sz="1500" dirty="0" err="1"/>
              <a:t>tbsp</a:t>
            </a:r>
            <a:r>
              <a:rPr lang="en-US" sz="1500" dirty="0"/>
              <a:t> thick cream </a:t>
            </a:r>
          </a:p>
          <a:p>
            <a:pPr lvl="1">
              <a:buFont typeface="Arial" pitchFamily="34" charset="0"/>
              <a:buChar char="•"/>
            </a:pPr>
            <a:r>
              <a:rPr lang="en-US" sz="1500" b="1" dirty="0"/>
              <a:t>2.5 tbsp KABGEER GALAUTI KEBAB MASALA</a:t>
            </a:r>
          </a:p>
          <a:p>
            <a:pPr>
              <a:buNone/>
            </a:pPr>
            <a:r>
              <a:rPr lang="en-US" sz="1800" b="1" dirty="0"/>
              <a:t>Steps of Cooking </a:t>
            </a:r>
            <a:r>
              <a:rPr lang="en-US" sz="1400" b="1" dirty="0"/>
              <a:t>(Serves 3-4) </a:t>
            </a:r>
            <a:r>
              <a:rPr lang="en-US" sz="1800" b="1" dirty="0"/>
              <a:t>:</a:t>
            </a:r>
          </a:p>
          <a:p>
            <a:pPr marL="800100" lvl="1" indent="-342900">
              <a:buAutoNum type="arabicPeriod"/>
            </a:pPr>
            <a:r>
              <a:rPr lang="en-US" sz="1500" dirty="0"/>
              <a:t>Grind roasted cashews, chironji, poppy seeds , fried onions into a thick paste.  Now mix  </a:t>
            </a:r>
            <a:r>
              <a:rPr lang="en-US" sz="1500" dirty="0" err="1"/>
              <a:t>gramflour</a:t>
            </a:r>
            <a:r>
              <a:rPr lang="en-US" sz="1500" dirty="0"/>
              <a:t> and thick cream to the paste. </a:t>
            </a:r>
          </a:p>
          <a:p>
            <a:pPr marL="800100" lvl="1" indent="-342900">
              <a:buAutoNum type="arabicPeriod"/>
            </a:pPr>
            <a:r>
              <a:rPr lang="en-US" sz="1500" dirty="0"/>
              <a:t>Take a bowl, mix the thick paste, raw mutton keema, </a:t>
            </a:r>
            <a:r>
              <a:rPr lang="en-US" sz="1500" b="1" dirty="0"/>
              <a:t>KABGEER MUTTON TENDERIZER</a:t>
            </a:r>
            <a:r>
              <a:rPr lang="en-US" sz="1500" dirty="0"/>
              <a:t>, </a:t>
            </a:r>
            <a:r>
              <a:rPr lang="en-US" sz="1500" b="1" dirty="0"/>
              <a:t>KABGEER GALAUTI KEBAB MASALA</a:t>
            </a:r>
            <a:r>
              <a:rPr lang="en-US" sz="1500" dirty="0"/>
              <a:t> and  salt (as per taste). Marinate for 2 hours.</a:t>
            </a:r>
          </a:p>
          <a:p>
            <a:pPr marL="800100" lvl="1" indent="-342900">
              <a:buAutoNum type="arabicPeriod"/>
            </a:pPr>
            <a:r>
              <a:rPr lang="en-US" sz="1500" dirty="0"/>
              <a:t>After that, take the marinated mutton </a:t>
            </a:r>
            <a:r>
              <a:rPr lang="en-US" sz="1500" dirty="0" err="1"/>
              <a:t>keema</a:t>
            </a:r>
            <a:r>
              <a:rPr lang="en-US" sz="1500" dirty="0"/>
              <a:t> bowl and give it a </a:t>
            </a:r>
            <a:r>
              <a:rPr lang="en-US" sz="1500" dirty="0" err="1"/>
              <a:t>smokey</a:t>
            </a:r>
            <a:r>
              <a:rPr lang="en-US" sz="1500" dirty="0"/>
              <a:t> flavor by using the “Coal Smoking Method”, for 8-10 </a:t>
            </a:r>
            <a:r>
              <a:rPr lang="en-US" sz="1500" dirty="0" err="1"/>
              <a:t>mins</a:t>
            </a:r>
            <a:r>
              <a:rPr lang="en-US" sz="1500" dirty="0"/>
              <a:t> covered with a lid.</a:t>
            </a:r>
          </a:p>
          <a:p>
            <a:pPr marL="800100" lvl="1" indent="-342900">
              <a:buAutoNum type="arabicPeriod"/>
            </a:pPr>
            <a:r>
              <a:rPr lang="en-US" sz="1500" dirty="0"/>
              <a:t> Mould them into round flat kebabs and shallow fry it in a pan. Kebab should be soft and tender. </a:t>
            </a:r>
          </a:p>
          <a:p>
            <a:pPr marL="800100" lvl="1" indent="-342900">
              <a:buAutoNum type="arabicPeriod"/>
            </a:pPr>
            <a:r>
              <a:rPr lang="en-US" sz="1500" dirty="0"/>
              <a:t>Your GALAUTI KEBABS are ready to be served with </a:t>
            </a:r>
            <a:r>
              <a:rPr lang="en-US" sz="1500" dirty="0" err="1"/>
              <a:t>Rumali</a:t>
            </a:r>
            <a:r>
              <a:rPr lang="en-US" sz="1500" dirty="0"/>
              <a:t> </a:t>
            </a:r>
            <a:r>
              <a:rPr lang="en-US" sz="1500" dirty="0" err="1"/>
              <a:t>Roti</a:t>
            </a:r>
            <a:r>
              <a:rPr lang="en-US" sz="1500" dirty="0"/>
              <a:t> and </a:t>
            </a:r>
            <a:r>
              <a:rPr lang="en-US" sz="1500" dirty="0" err="1"/>
              <a:t>Mughlai</a:t>
            </a:r>
            <a:r>
              <a:rPr lang="en-US" sz="1500" dirty="0"/>
              <a:t> </a:t>
            </a:r>
            <a:r>
              <a:rPr lang="en-US" sz="1500" dirty="0" err="1"/>
              <a:t>Paratha</a:t>
            </a:r>
            <a:r>
              <a:rPr lang="en-US" sz="1500" dirty="0"/>
              <a:t>. </a:t>
            </a:r>
          </a:p>
          <a:p>
            <a:pPr>
              <a:buNone/>
            </a:pPr>
            <a:r>
              <a:rPr lang="en-US" sz="1800" b="1" dirty="0"/>
              <a:t>Tip from our Chef:</a:t>
            </a:r>
          </a:p>
          <a:p>
            <a:pPr>
              <a:buNone/>
            </a:pPr>
            <a:r>
              <a:rPr lang="en-US" sz="1500" dirty="0"/>
              <a:t>While frying, if your kebab starts breaking, add more roasted </a:t>
            </a:r>
            <a:r>
              <a:rPr lang="en-US" sz="1500" dirty="0" err="1"/>
              <a:t>gramflour</a:t>
            </a:r>
            <a:r>
              <a:rPr lang="en-US" sz="1500" dirty="0"/>
              <a:t> to the marination.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03200"/>
            <a:ext cx="6000750" cy="954616"/>
          </a:xfrm>
        </p:spPr>
        <p:txBody>
          <a:bodyPr>
            <a:normAutofit/>
          </a:bodyPr>
          <a:lstStyle/>
          <a:p>
            <a:r>
              <a:rPr lang="en-US" sz="3200" b="1" dirty="0"/>
              <a:t>Awadhi Tikka </a:t>
            </a:r>
            <a:r>
              <a:rPr lang="en-US" sz="3200" b="1" dirty="0" err="1"/>
              <a:t>Boti</a:t>
            </a:r>
            <a:r>
              <a:rPr lang="en-US" sz="3200" b="1" dirty="0"/>
              <a:t> Masala</a:t>
            </a:r>
          </a:p>
        </p:txBody>
      </p:sp>
      <p:sp>
        <p:nvSpPr>
          <p:cNvPr id="3" name="Content Placeholder 2"/>
          <p:cNvSpPr>
            <a:spLocks noGrp="1"/>
          </p:cNvSpPr>
          <p:nvPr>
            <p:ph idx="1"/>
          </p:nvPr>
        </p:nvSpPr>
        <p:spPr>
          <a:xfrm>
            <a:off x="304800" y="914400"/>
            <a:ext cx="6553200" cy="8432800"/>
          </a:xfrm>
        </p:spPr>
        <p:txBody>
          <a:bodyPr>
            <a:normAutofit/>
          </a:bodyPr>
          <a:lstStyle/>
          <a:p>
            <a:pPr>
              <a:buNone/>
            </a:pPr>
            <a:r>
              <a:rPr lang="en-US" sz="2000" b="1" dirty="0"/>
              <a:t>Ingredients:</a:t>
            </a:r>
          </a:p>
          <a:p>
            <a:pPr>
              <a:buNone/>
            </a:pPr>
            <a:r>
              <a:rPr lang="en-US" sz="1500" dirty="0"/>
              <a:t>Coriander, Cumin, Garlic, Cardamom, Pepper, Fennel  Seeds,  Ginger, </a:t>
            </a:r>
            <a:r>
              <a:rPr lang="en-US" sz="1500" dirty="0" err="1"/>
              <a:t>Chillies</a:t>
            </a:r>
            <a:r>
              <a:rPr lang="en-US" sz="1500" dirty="0"/>
              <a:t>,  Cinnamon, Nutmeg and Cloves.</a:t>
            </a:r>
            <a:r>
              <a:rPr lang="en-US" sz="1500" b="1" dirty="0"/>
              <a:t> </a:t>
            </a:r>
            <a:endParaRPr lang="en-US" sz="1800" b="1" dirty="0"/>
          </a:p>
          <a:p>
            <a:pPr>
              <a:buNone/>
            </a:pPr>
            <a:r>
              <a:rPr lang="en-US" sz="1800" b="1" dirty="0"/>
              <a:t>Ingredients Required:</a:t>
            </a:r>
          </a:p>
          <a:p>
            <a:pPr lvl="1">
              <a:buFont typeface="Arial" pitchFamily="34" charset="0"/>
              <a:buChar char="•"/>
            </a:pPr>
            <a:r>
              <a:rPr lang="en-US" sz="1400" dirty="0"/>
              <a:t>500g Chicken/Mutton (boneless)</a:t>
            </a:r>
          </a:p>
          <a:p>
            <a:pPr lvl="1">
              <a:buFont typeface="Arial" pitchFamily="34" charset="0"/>
              <a:buChar char="•"/>
            </a:pPr>
            <a:r>
              <a:rPr lang="en-US" sz="1400" dirty="0"/>
              <a:t>150g Oil</a:t>
            </a:r>
          </a:p>
          <a:p>
            <a:pPr lvl="1">
              <a:buFont typeface="Arial" pitchFamily="34" charset="0"/>
              <a:buChar char="•"/>
            </a:pPr>
            <a:r>
              <a:rPr lang="en-US" sz="1400" dirty="0"/>
              <a:t>150g Onions (fried)</a:t>
            </a:r>
          </a:p>
          <a:p>
            <a:pPr lvl="1">
              <a:buFont typeface="Arial" pitchFamily="34" charset="0"/>
              <a:buChar char="•"/>
            </a:pPr>
            <a:r>
              <a:rPr lang="en-US" sz="1400" dirty="0"/>
              <a:t>1 </a:t>
            </a:r>
            <a:r>
              <a:rPr lang="en-US" sz="1400" dirty="0" err="1"/>
              <a:t>tbsp</a:t>
            </a:r>
            <a:r>
              <a:rPr lang="en-US" sz="1400" dirty="0"/>
              <a:t> </a:t>
            </a:r>
            <a:r>
              <a:rPr lang="en-US" sz="1400" dirty="0" err="1"/>
              <a:t>Besan</a:t>
            </a:r>
            <a:r>
              <a:rPr lang="en-US" sz="1400" dirty="0"/>
              <a:t> (roasted)</a:t>
            </a:r>
          </a:p>
          <a:p>
            <a:pPr lvl="1">
              <a:buFont typeface="Arial" pitchFamily="34" charset="0"/>
              <a:buChar char="•"/>
            </a:pPr>
            <a:r>
              <a:rPr lang="en-US" sz="1400" dirty="0"/>
              <a:t>100g Curd</a:t>
            </a:r>
          </a:p>
          <a:p>
            <a:pPr lvl="1">
              <a:buFont typeface="Arial" pitchFamily="34" charset="0"/>
              <a:buChar char="•"/>
            </a:pPr>
            <a:r>
              <a:rPr lang="en-US" sz="1400" dirty="0"/>
              <a:t>1 </a:t>
            </a:r>
            <a:r>
              <a:rPr lang="en-US" sz="1400" dirty="0" err="1"/>
              <a:t>tbsp</a:t>
            </a:r>
            <a:r>
              <a:rPr lang="en-US" sz="1400" dirty="0"/>
              <a:t> Dry Coconut</a:t>
            </a:r>
          </a:p>
          <a:p>
            <a:pPr lvl="1">
              <a:buFont typeface="Arial" pitchFamily="34" charset="0"/>
              <a:buChar char="•"/>
            </a:pPr>
            <a:r>
              <a:rPr lang="en-US" sz="1400" dirty="0"/>
              <a:t>1 tsp Poppy Seeds (</a:t>
            </a:r>
            <a:r>
              <a:rPr lang="en-US" sz="1400" dirty="0" err="1"/>
              <a:t>khus</a:t>
            </a:r>
            <a:r>
              <a:rPr lang="en-US" sz="1400" dirty="0"/>
              <a:t> </a:t>
            </a:r>
            <a:r>
              <a:rPr lang="en-US" sz="1400" dirty="0" err="1"/>
              <a:t>khus</a:t>
            </a:r>
            <a:r>
              <a:rPr lang="en-US" sz="1400" dirty="0"/>
              <a:t>)</a:t>
            </a:r>
          </a:p>
          <a:p>
            <a:pPr lvl="1">
              <a:buFont typeface="Arial" pitchFamily="34" charset="0"/>
              <a:buChar char="•"/>
            </a:pPr>
            <a:r>
              <a:rPr lang="en-US" sz="1400" dirty="0"/>
              <a:t>5-6 Cashews (roasted)</a:t>
            </a:r>
          </a:p>
          <a:p>
            <a:pPr lvl="1">
              <a:buFont typeface="Arial" pitchFamily="34" charset="0"/>
              <a:buChar char="•"/>
            </a:pPr>
            <a:r>
              <a:rPr lang="en-US" sz="1400" dirty="0"/>
              <a:t>2 tbsp </a:t>
            </a:r>
            <a:r>
              <a:rPr lang="en-US" sz="1400" b="1" dirty="0"/>
              <a:t>KABGEER  TENDERIZER</a:t>
            </a:r>
          </a:p>
          <a:p>
            <a:pPr lvl="1">
              <a:buFont typeface="Arial" pitchFamily="34" charset="0"/>
              <a:buChar char="•"/>
            </a:pPr>
            <a:r>
              <a:rPr lang="en-US" sz="1400" dirty="0"/>
              <a:t>1 </a:t>
            </a:r>
            <a:r>
              <a:rPr lang="en-US" sz="1400" dirty="0" err="1"/>
              <a:t>tbsp</a:t>
            </a:r>
            <a:r>
              <a:rPr lang="en-US" sz="1400" dirty="0"/>
              <a:t> Kewra Water</a:t>
            </a:r>
          </a:p>
          <a:p>
            <a:pPr lvl="1">
              <a:buFont typeface="Arial" pitchFamily="34" charset="0"/>
              <a:buChar char="•"/>
            </a:pPr>
            <a:r>
              <a:rPr lang="en-US" sz="1400" dirty="0"/>
              <a:t>1 tsp Rose Water</a:t>
            </a:r>
          </a:p>
          <a:p>
            <a:pPr lvl="1">
              <a:buFont typeface="Arial" pitchFamily="34" charset="0"/>
              <a:buChar char="•"/>
            </a:pPr>
            <a:r>
              <a:rPr lang="en-US" sz="1400" dirty="0"/>
              <a:t>Full Packet </a:t>
            </a:r>
            <a:r>
              <a:rPr lang="en-US" sz="1400" b="1" dirty="0"/>
              <a:t>KABGEER TIKKA BOTI MASALA</a:t>
            </a:r>
          </a:p>
          <a:p>
            <a:pPr>
              <a:buNone/>
            </a:pPr>
            <a:r>
              <a:rPr lang="en-US" sz="1800" b="1" dirty="0"/>
              <a:t>Steps of Cooking (Serves 3-4) :</a:t>
            </a:r>
          </a:p>
          <a:p>
            <a:pPr marL="800100" lvl="1" indent="-342900">
              <a:buFont typeface="+mj-lt"/>
              <a:buAutoNum type="arabicPeriod"/>
            </a:pPr>
            <a:r>
              <a:rPr lang="en-US" sz="1400" dirty="0"/>
              <a:t>Grind fried onions, dry coconut, poppy seeds and roasted cashews into a paste. Mix roasted besan, curd, </a:t>
            </a:r>
            <a:r>
              <a:rPr lang="en-US" sz="1400" b="1" dirty="0"/>
              <a:t>KABGEER TENDERISER, </a:t>
            </a:r>
            <a:r>
              <a:rPr lang="en-US" sz="1400" dirty="0"/>
              <a:t>kewra water, rose water,</a:t>
            </a:r>
            <a:r>
              <a:rPr lang="en-US" sz="1400" b="1" dirty="0"/>
              <a:t> KABGEER Tikka  BOTI MASALA </a:t>
            </a:r>
            <a:r>
              <a:rPr lang="en-US" sz="1400" dirty="0"/>
              <a:t>and salt (as per taste) with the paste. Marinate for 30-45 </a:t>
            </a:r>
            <a:r>
              <a:rPr lang="en-US" sz="1400" dirty="0" err="1"/>
              <a:t>mins</a:t>
            </a:r>
            <a:r>
              <a:rPr lang="en-US" sz="1400" dirty="0"/>
              <a:t>. After that, give it a </a:t>
            </a:r>
            <a:r>
              <a:rPr lang="en-US" sz="1400" dirty="0" err="1"/>
              <a:t>smokey</a:t>
            </a:r>
            <a:r>
              <a:rPr lang="en-US" sz="1400" dirty="0"/>
              <a:t> </a:t>
            </a:r>
            <a:r>
              <a:rPr lang="en-US" sz="1400" dirty="0" err="1"/>
              <a:t>flavour</a:t>
            </a:r>
            <a:r>
              <a:rPr lang="en-US" sz="1400" dirty="0"/>
              <a:t> by using the “Coal Smoking Technique”.</a:t>
            </a:r>
          </a:p>
          <a:p>
            <a:pPr marL="800100" lvl="1" indent="-342900">
              <a:buFont typeface="+mj-lt"/>
              <a:buAutoNum type="arabicPeriod"/>
            </a:pPr>
            <a:r>
              <a:rPr lang="en-US" sz="1400" dirty="0"/>
              <a:t>Take oil in a pan, when the oil turns hot pour the Chicken </a:t>
            </a:r>
            <a:r>
              <a:rPr lang="en-US" sz="1400" dirty="0" err="1"/>
              <a:t>Boti</a:t>
            </a:r>
            <a:r>
              <a:rPr lang="en-US" sz="1400" dirty="0"/>
              <a:t> Kebab </a:t>
            </a:r>
            <a:r>
              <a:rPr lang="en-US" sz="1400" dirty="0" err="1"/>
              <a:t>marination</a:t>
            </a:r>
            <a:r>
              <a:rPr lang="en-US" sz="1400" dirty="0"/>
              <a:t> in it. Cook till oil separates. Add mint leaves, coriander leaves and green </a:t>
            </a:r>
            <a:r>
              <a:rPr lang="en-US" sz="1400" dirty="0" err="1"/>
              <a:t>chillies</a:t>
            </a:r>
            <a:r>
              <a:rPr lang="en-US" sz="1400" dirty="0"/>
              <a:t>. Cook for 2-3 minutes.</a:t>
            </a:r>
          </a:p>
          <a:p>
            <a:pPr marL="800100" lvl="1" indent="-342900">
              <a:buFont typeface="+mj-lt"/>
              <a:buAutoNum type="arabicPeriod"/>
            </a:pPr>
            <a:r>
              <a:rPr lang="en-US" sz="1400" dirty="0"/>
              <a:t>Your Awadhi </a:t>
            </a:r>
            <a:r>
              <a:rPr lang="en-US" sz="1400" dirty="0" err="1"/>
              <a:t>Boti</a:t>
            </a:r>
            <a:r>
              <a:rPr lang="en-US" sz="1400" dirty="0"/>
              <a:t> Kebab is ready to be served with Buns/</a:t>
            </a:r>
            <a:r>
              <a:rPr lang="en-US" sz="1400" dirty="0" err="1"/>
              <a:t>Rumali</a:t>
            </a:r>
            <a:r>
              <a:rPr lang="en-US" sz="1400" dirty="0"/>
              <a:t> </a:t>
            </a:r>
            <a:r>
              <a:rPr lang="en-US" sz="1400" dirty="0" err="1"/>
              <a:t>Roti</a:t>
            </a:r>
            <a:r>
              <a:rPr lang="en-US" sz="1400" dirty="0"/>
              <a:t>, mint chutney and onions.</a:t>
            </a:r>
            <a:endParaRPr lang="en-US" sz="2000" b="1" dirty="0"/>
          </a:p>
          <a:p>
            <a:pPr marL="400050">
              <a:buNone/>
            </a:pPr>
            <a:r>
              <a:rPr lang="en-US" sz="2000" b="1" dirty="0"/>
              <a:t>Tip From Chef:</a:t>
            </a:r>
          </a:p>
          <a:p>
            <a:pPr marL="400050">
              <a:buNone/>
            </a:pPr>
            <a:r>
              <a:rPr lang="en-US" sz="1400" dirty="0"/>
              <a:t>Kabgeer’s Awadhi Tikka Boti can be used as an appetizer too. Tikka </a:t>
            </a:r>
            <a:r>
              <a:rPr lang="en-US" sz="1400" dirty="0" err="1"/>
              <a:t>Boti</a:t>
            </a:r>
            <a:r>
              <a:rPr lang="en-US" sz="1400" dirty="0"/>
              <a:t> always tastes better when cooked with mutton.</a:t>
            </a:r>
          </a:p>
          <a:p>
            <a:pPr marL="800100" lvl="1" indent="-342900">
              <a:buNone/>
            </a:pPr>
            <a:endParaRPr lang="en-US" sz="1400" b="1" dirty="0"/>
          </a:p>
          <a:p>
            <a:pPr>
              <a:buNone/>
            </a:pPr>
            <a:endParaRPr lang="en-US" sz="1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Non-</a:t>
            </a:r>
            <a:r>
              <a:rPr lang="en-US" sz="3200" b="1" dirty="0" err="1"/>
              <a:t>Veg</a:t>
            </a:r>
            <a:r>
              <a:rPr lang="en-US" sz="3200" b="1" dirty="0"/>
              <a:t> Tandoori </a:t>
            </a:r>
            <a:r>
              <a:rPr lang="en-US" sz="3200" b="1" dirty="0" err="1"/>
              <a:t>Masala</a:t>
            </a:r>
            <a:endParaRPr lang="en-US" sz="3200" b="1" dirty="0"/>
          </a:p>
        </p:txBody>
      </p:sp>
      <p:sp>
        <p:nvSpPr>
          <p:cNvPr id="3" name="Content Placeholder 2"/>
          <p:cNvSpPr>
            <a:spLocks noGrp="1"/>
          </p:cNvSpPr>
          <p:nvPr>
            <p:ph idx="1"/>
          </p:nvPr>
        </p:nvSpPr>
        <p:spPr>
          <a:xfrm>
            <a:off x="342900" y="1016000"/>
            <a:ext cx="6172200" cy="7620000"/>
          </a:xfrm>
        </p:spPr>
        <p:txBody>
          <a:bodyPr>
            <a:normAutofit lnSpcReduction="10000"/>
          </a:bodyPr>
          <a:lstStyle/>
          <a:p>
            <a:pPr>
              <a:buNone/>
            </a:pPr>
            <a:r>
              <a:rPr lang="en-US" sz="1800" b="1" dirty="0"/>
              <a:t>Ingredients:</a:t>
            </a:r>
            <a:endParaRPr lang="en-US" sz="1500" dirty="0"/>
          </a:p>
          <a:p>
            <a:pPr>
              <a:buNone/>
            </a:pPr>
            <a:r>
              <a:rPr lang="en-US" sz="1500" dirty="0"/>
              <a:t>Chilies, Cumin, Black Pepper, Dry Mango, Cinnamon, Cloves, Black Cardamom, Star Anise and Lemongrass</a:t>
            </a:r>
            <a:r>
              <a:rPr lang="en-US" sz="1800" b="1" dirty="0"/>
              <a:t>  </a:t>
            </a:r>
          </a:p>
          <a:p>
            <a:pPr>
              <a:buNone/>
            </a:pPr>
            <a:endParaRPr lang="en-US" sz="1800" b="1" dirty="0"/>
          </a:p>
          <a:p>
            <a:pPr>
              <a:buNone/>
            </a:pPr>
            <a:r>
              <a:rPr lang="en-US" sz="1800" b="1" dirty="0"/>
              <a:t>Ingredients Required:</a:t>
            </a:r>
          </a:p>
          <a:p>
            <a:pPr lvl="1">
              <a:buFont typeface="Arial" pitchFamily="34" charset="0"/>
              <a:buChar char="•"/>
            </a:pPr>
            <a:r>
              <a:rPr lang="en-US" sz="1400" dirty="0"/>
              <a:t>500g Chicken</a:t>
            </a:r>
          </a:p>
          <a:p>
            <a:pPr lvl="1">
              <a:buFont typeface="Arial" pitchFamily="34" charset="0"/>
              <a:buChar char="•"/>
            </a:pPr>
            <a:r>
              <a:rPr lang="en-US" sz="1400" dirty="0"/>
              <a:t>100g Curd</a:t>
            </a:r>
          </a:p>
          <a:p>
            <a:pPr lvl="1">
              <a:buFont typeface="Arial" pitchFamily="34" charset="0"/>
              <a:buChar char="•"/>
            </a:pPr>
            <a:r>
              <a:rPr lang="en-US" sz="1400" dirty="0"/>
              <a:t>100 ml Thick Cream</a:t>
            </a:r>
          </a:p>
          <a:p>
            <a:pPr lvl="1">
              <a:buFont typeface="Arial" pitchFamily="34" charset="0"/>
              <a:buChar char="•"/>
            </a:pPr>
            <a:r>
              <a:rPr lang="en-US" sz="1400" dirty="0"/>
              <a:t>2 tbsp </a:t>
            </a:r>
            <a:r>
              <a:rPr lang="en-US" sz="1400" b="1" dirty="0"/>
              <a:t>KABGEER CHICKEN TENDERIZER</a:t>
            </a:r>
          </a:p>
          <a:p>
            <a:pPr lvl="1">
              <a:buFont typeface="Arial" pitchFamily="34" charset="0"/>
              <a:buChar char="•"/>
            </a:pPr>
            <a:r>
              <a:rPr lang="en-US" sz="1400" dirty="0"/>
              <a:t>2 tbsp </a:t>
            </a:r>
            <a:r>
              <a:rPr lang="en-US" sz="1400" b="1" dirty="0"/>
              <a:t>KABGEER TANDOORI MASALA</a:t>
            </a:r>
          </a:p>
          <a:p>
            <a:pPr lvl="1">
              <a:buFont typeface="Arial" pitchFamily="34" charset="0"/>
              <a:buChar char="•"/>
            </a:pPr>
            <a:r>
              <a:rPr lang="en-US" sz="1400" dirty="0"/>
              <a:t>¼ tsp Orange edible food color (optional)</a:t>
            </a:r>
          </a:p>
          <a:p>
            <a:pPr lvl="1">
              <a:buFont typeface="Arial" pitchFamily="34" charset="0"/>
              <a:buChar char="•"/>
            </a:pPr>
            <a:r>
              <a:rPr lang="en-US" sz="1400" dirty="0"/>
              <a:t>3 </a:t>
            </a:r>
            <a:r>
              <a:rPr lang="en-US" sz="1400" dirty="0" err="1"/>
              <a:t>tbsp</a:t>
            </a:r>
            <a:r>
              <a:rPr lang="en-US" sz="1400" dirty="0"/>
              <a:t> ginger garlic paste</a:t>
            </a:r>
          </a:p>
          <a:p>
            <a:pPr lvl="1">
              <a:buFont typeface="Arial" pitchFamily="34" charset="0"/>
              <a:buChar char="•"/>
            </a:pPr>
            <a:endParaRPr lang="en-US" sz="1400" b="1" dirty="0"/>
          </a:p>
          <a:p>
            <a:pPr>
              <a:buNone/>
            </a:pPr>
            <a:r>
              <a:rPr lang="en-US" sz="1800" b="1" dirty="0"/>
              <a:t>Steps of Cooking (Serves 3-4) :</a:t>
            </a:r>
          </a:p>
          <a:p>
            <a:pPr marL="800100" lvl="1" indent="-342900">
              <a:buFont typeface="+mj-lt"/>
              <a:buAutoNum type="arabicPeriod"/>
            </a:pPr>
            <a:r>
              <a:rPr lang="en-US" sz="1400" dirty="0"/>
              <a:t>Make deep cuts on the raw chicken pieces and marinate it with curd, </a:t>
            </a:r>
            <a:r>
              <a:rPr lang="en-US" sz="1400" b="1" dirty="0"/>
              <a:t>KABGEER CHICKEN TENDERIZER</a:t>
            </a:r>
            <a:r>
              <a:rPr lang="en-US" sz="1400" dirty="0"/>
              <a:t>, </a:t>
            </a:r>
            <a:r>
              <a:rPr lang="en-US" sz="1400" b="1" dirty="0"/>
              <a:t>KABGEER TANDOORI MASALA</a:t>
            </a:r>
            <a:r>
              <a:rPr lang="en-US" sz="1400" dirty="0"/>
              <a:t>, cream, ginger – garlic  paste, orange edible food color and salt (as per taste) for 2 hours.</a:t>
            </a:r>
          </a:p>
          <a:p>
            <a:pPr marL="800100" lvl="1" indent="-342900">
              <a:buFont typeface="+mj-lt"/>
              <a:buAutoNum type="arabicPeriod"/>
            </a:pPr>
            <a:r>
              <a:rPr lang="en-US" sz="1400" dirty="0"/>
              <a:t>After marination, give it a </a:t>
            </a:r>
            <a:r>
              <a:rPr lang="en-US" sz="1400" dirty="0" err="1"/>
              <a:t>smokey</a:t>
            </a:r>
            <a:r>
              <a:rPr lang="en-US" sz="1400" dirty="0"/>
              <a:t> </a:t>
            </a:r>
            <a:r>
              <a:rPr lang="en-US" sz="1400" dirty="0" err="1"/>
              <a:t>flavour</a:t>
            </a:r>
            <a:r>
              <a:rPr lang="en-US" sz="1400" dirty="0"/>
              <a:t> by using the “Coal Smoking Technique”.  </a:t>
            </a:r>
          </a:p>
          <a:p>
            <a:pPr marL="800100" lvl="1" indent="-342900">
              <a:buFont typeface="+mj-lt"/>
              <a:buAutoNum type="arabicPeriod"/>
            </a:pPr>
            <a:r>
              <a:rPr lang="en-US" sz="1400" dirty="0"/>
              <a:t>Grilling technique:</a:t>
            </a:r>
          </a:p>
          <a:p>
            <a:pPr marL="1200150" lvl="2" indent="-342900">
              <a:buFont typeface="+mj-lt"/>
              <a:buAutoNum type="arabicPeriod"/>
            </a:pPr>
            <a:r>
              <a:rPr lang="en-US" sz="1400" b="1" dirty="0"/>
              <a:t>For people who don’t have an oven: </a:t>
            </a:r>
            <a:r>
              <a:rPr lang="en-US" sz="1400" dirty="0"/>
              <a:t>use a grill pan, apply oil and keep 4-5 marinated pieces on high flame until it dries and gets roasted.</a:t>
            </a:r>
          </a:p>
          <a:p>
            <a:pPr marL="1200150" lvl="2" indent="-342900">
              <a:buFont typeface="+mj-lt"/>
              <a:buAutoNum type="arabicPeriod"/>
            </a:pPr>
            <a:r>
              <a:rPr lang="en-US" sz="1400" b="1" dirty="0"/>
              <a:t>For people who have an oven:</a:t>
            </a:r>
            <a:r>
              <a:rPr lang="en-US" sz="1400" dirty="0"/>
              <a:t> Preheat the oven at 220 degree Celsius, grill the chicken for about 20 minutes till it’s tender.</a:t>
            </a:r>
          </a:p>
          <a:p>
            <a:pPr marL="800100" lvl="1" indent="-342900">
              <a:buNone/>
            </a:pPr>
            <a:r>
              <a:rPr lang="en-US" sz="1400" dirty="0"/>
              <a:t> 4.     Your Tandoori Chicken is ready to be served with Mint Chutney and Onions.</a:t>
            </a:r>
          </a:p>
          <a:p>
            <a:pPr marL="800100" lvl="1" indent="-342900">
              <a:buFont typeface="+mj-lt"/>
              <a:buAutoNum type="arabicPeriod"/>
            </a:pPr>
            <a:endParaRPr lang="en-US" sz="1400" dirty="0"/>
          </a:p>
          <a:p>
            <a:pPr>
              <a:buNone/>
            </a:pPr>
            <a:r>
              <a:rPr lang="en-US" sz="1800" dirty="0"/>
              <a:t>Tip from our Chef:</a:t>
            </a:r>
          </a:p>
          <a:p>
            <a:pPr>
              <a:buNone/>
            </a:pPr>
            <a:r>
              <a:rPr lang="en-US" sz="1400" dirty="0"/>
              <a:t>Marinated chicken residue can be dried up in the pan on high flame before grilling. It will taste better if cooked in butter/</a:t>
            </a:r>
            <a:r>
              <a:rPr lang="en-US" sz="1400" dirty="0" err="1"/>
              <a:t>desi</a:t>
            </a:r>
            <a:r>
              <a:rPr lang="en-US" sz="1400" dirty="0"/>
              <a:t> ghee.</a:t>
            </a:r>
            <a:endParaRPr lang="en-US" sz="1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Veg</a:t>
            </a:r>
            <a:r>
              <a:rPr lang="en-US" sz="3200" b="1" dirty="0"/>
              <a:t> Tandoori </a:t>
            </a:r>
            <a:r>
              <a:rPr lang="en-US" sz="3200" b="1" dirty="0" err="1"/>
              <a:t>Masala</a:t>
            </a:r>
            <a:endParaRPr lang="en-US" sz="3200" b="1" dirty="0"/>
          </a:p>
        </p:txBody>
      </p:sp>
      <p:sp>
        <p:nvSpPr>
          <p:cNvPr id="3" name="Content Placeholder 2"/>
          <p:cNvSpPr>
            <a:spLocks noGrp="1"/>
          </p:cNvSpPr>
          <p:nvPr>
            <p:ph idx="1"/>
          </p:nvPr>
        </p:nvSpPr>
        <p:spPr>
          <a:xfrm>
            <a:off x="342900" y="1016000"/>
            <a:ext cx="6172200" cy="7620000"/>
          </a:xfrm>
        </p:spPr>
        <p:txBody>
          <a:bodyPr>
            <a:normAutofit lnSpcReduction="10000"/>
          </a:bodyPr>
          <a:lstStyle/>
          <a:p>
            <a:pPr>
              <a:buNone/>
            </a:pPr>
            <a:r>
              <a:rPr lang="en-US" sz="2000" b="1" dirty="0"/>
              <a:t>Ingredients:</a:t>
            </a:r>
            <a:endParaRPr lang="en-US" sz="1800" dirty="0"/>
          </a:p>
          <a:p>
            <a:pPr>
              <a:buNone/>
            </a:pPr>
            <a:r>
              <a:rPr lang="en-US" sz="1500" dirty="0"/>
              <a:t>Chilies, Cumin, Black Pepper, Dry Mango, Cinnamon, Cloves, Black Cardamom, Star Anise and Lemongrass</a:t>
            </a:r>
            <a:r>
              <a:rPr lang="en-US" sz="1700" b="1" dirty="0"/>
              <a:t>  </a:t>
            </a:r>
          </a:p>
          <a:p>
            <a:pPr>
              <a:buNone/>
            </a:pPr>
            <a:endParaRPr lang="en-US" sz="1800" b="1" dirty="0"/>
          </a:p>
          <a:p>
            <a:pPr>
              <a:buNone/>
            </a:pPr>
            <a:r>
              <a:rPr lang="en-US" sz="1800" b="1" dirty="0"/>
              <a:t>Ingredients Required:</a:t>
            </a:r>
          </a:p>
          <a:p>
            <a:pPr lvl="1">
              <a:buFont typeface="Arial" pitchFamily="34" charset="0"/>
              <a:buChar char="•"/>
            </a:pPr>
            <a:r>
              <a:rPr lang="en-US" sz="1400" dirty="0"/>
              <a:t>500g assorted vegetables (</a:t>
            </a:r>
            <a:r>
              <a:rPr lang="en-US" sz="1400" dirty="0" err="1"/>
              <a:t>potatoes,capsicum,broccoli,etc</a:t>
            </a:r>
            <a:r>
              <a:rPr lang="en-US" sz="1400" dirty="0"/>
              <a:t>)/Pineapple/</a:t>
            </a:r>
            <a:r>
              <a:rPr lang="en-US" sz="1400" dirty="0" err="1"/>
              <a:t>Paneer</a:t>
            </a:r>
            <a:r>
              <a:rPr lang="en-US" sz="1400" dirty="0"/>
              <a:t> </a:t>
            </a:r>
          </a:p>
          <a:p>
            <a:pPr lvl="1">
              <a:buFont typeface="Arial" pitchFamily="34" charset="0"/>
              <a:buChar char="•"/>
            </a:pPr>
            <a:r>
              <a:rPr lang="en-US" sz="1400" dirty="0"/>
              <a:t>100g Curd</a:t>
            </a:r>
          </a:p>
          <a:p>
            <a:pPr lvl="1">
              <a:buFont typeface="Arial" pitchFamily="34" charset="0"/>
              <a:buChar char="•"/>
            </a:pPr>
            <a:r>
              <a:rPr lang="en-US" sz="1400" dirty="0"/>
              <a:t>100 ml Thick Cream</a:t>
            </a:r>
          </a:p>
          <a:p>
            <a:pPr lvl="1">
              <a:buFont typeface="Arial" pitchFamily="34" charset="0"/>
              <a:buChar char="•"/>
            </a:pPr>
            <a:r>
              <a:rPr lang="en-US" sz="1400" dirty="0"/>
              <a:t>2 tbsp </a:t>
            </a:r>
            <a:r>
              <a:rPr lang="en-US" sz="1400" b="1" dirty="0"/>
              <a:t>KABGEER TANDOORI MASALA</a:t>
            </a:r>
          </a:p>
          <a:p>
            <a:pPr lvl="1">
              <a:buFont typeface="Arial" pitchFamily="34" charset="0"/>
              <a:buChar char="•"/>
            </a:pPr>
            <a:r>
              <a:rPr lang="en-US" sz="1400" dirty="0"/>
              <a:t>¼ Yellow edible food color (optional)</a:t>
            </a:r>
          </a:p>
          <a:p>
            <a:pPr lvl="1">
              <a:buFont typeface="Arial" pitchFamily="34" charset="0"/>
              <a:buChar char="•"/>
            </a:pPr>
            <a:r>
              <a:rPr lang="en-US" sz="1400" dirty="0"/>
              <a:t>1 </a:t>
            </a:r>
            <a:r>
              <a:rPr lang="en-US" sz="1400" dirty="0" err="1"/>
              <a:t>tbsp</a:t>
            </a:r>
            <a:r>
              <a:rPr lang="en-US" sz="1400" dirty="0"/>
              <a:t> ginger-garlic paste (optional)</a:t>
            </a:r>
          </a:p>
          <a:p>
            <a:pPr lvl="1">
              <a:buFont typeface="Arial" pitchFamily="34" charset="0"/>
              <a:buChar char="•"/>
            </a:pPr>
            <a:endParaRPr lang="en-US" sz="1400" b="1" dirty="0"/>
          </a:p>
          <a:p>
            <a:pPr>
              <a:buNone/>
            </a:pPr>
            <a:r>
              <a:rPr lang="en-US" sz="1800" b="1" dirty="0"/>
              <a:t>Steps of Cooking (Serves 3-4) :</a:t>
            </a:r>
          </a:p>
          <a:p>
            <a:pPr marL="800100" lvl="1" indent="-342900">
              <a:buFont typeface="+mj-lt"/>
              <a:buAutoNum type="arabicPeriod"/>
            </a:pPr>
            <a:r>
              <a:rPr lang="en-US" sz="1400" dirty="0"/>
              <a:t>Marinate the assorted vegetables/pineapple/paneer with curd, cream, </a:t>
            </a:r>
            <a:r>
              <a:rPr lang="en-US" sz="1400" b="1" dirty="0"/>
              <a:t>VEG KABGEER TANDOORI MASALA</a:t>
            </a:r>
            <a:r>
              <a:rPr lang="en-US" sz="1400" dirty="0"/>
              <a:t>, yellow edible color (optional) and salt (as per taste) for 10-15 minutes.</a:t>
            </a:r>
          </a:p>
          <a:p>
            <a:pPr marL="800100" lvl="1" indent="-342900">
              <a:buFont typeface="+mj-lt"/>
              <a:buAutoNum type="arabicPeriod"/>
            </a:pPr>
            <a:r>
              <a:rPr lang="en-US" sz="1400" dirty="0"/>
              <a:t>After marination, give it a </a:t>
            </a:r>
            <a:r>
              <a:rPr lang="en-US" sz="1400" dirty="0" err="1"/>
              <a:t>smokey</a:t>
            </a:r>
            <a:r>
              <a:rPr lang="en-US" sz="1400" dirty="0"/>
              <a:t> </a:t>
            </a:r>
            <a:r>
              <a:rPr lang="en-US" sz="1400" dirty="0" err="1"/>
              <a:t>flavour</a:t>
            </a:r>
            <a:r>
              <a:rPr lang="en-US" sz="1400" dirty="0"/>
              <a:t> by using the “Coal Smoking Technique”.  </a:t>
            </a:r>
          </a:p>
          <a:p>
            <a:pPr marL="800100" lvl="1" indent="-342900">
              <a:buFont typeface="+mj-lt"/>
              <a:buAutoNum type="arabicPeriod"/>
            </a:pPr>
            <a:r>
              <a:rPr lang="en-US" sz="1400" dirty="0"/>
              <a:t>Grilling technique:</a:t>
            </a:r>
          </a:p>
          <a:p>
            <a:pPr marL="1200150" lvl="2" indent="-342900">
              <a:buFont typeface="+mj-lt"/>
              <a:buAutoNum type="arabicPeriod"/>
            </a:pPr>
            <a:r>
              <a:rPr lang="en-US" sz="1400" b="1" dirty="0"/>
              <a:t>For people who don’t have an oven: </a:t>
            </a:r>
            <a:r>
              <a:rPr lang="en-US" sz="1400" dirty="0"/>
              <a:t>Set the assorted vegetables/ pineapple/ </a:t>
            </a:r>
            <a:r>
              <a:rPr lang="en-US" sz="1400" dirty="0" err="1"/>
              <a:t>paneer</a:t>
            </a:r>
            <a:r>
              <a:rPr lang="en-US" sz="1400" dirty="0"/>
              <a:t> on the wooden skewers, place them on the grill pan with oil on high flame until it changes color and roasts properly.</a:t>
            </a:r>
          </a:p>
          <a:p>
            <a:pPr marL="1200150" lvl="2" indent="-342900">
              <a:buFont typeface="+mj-lt"/>
              <a:buAutoNum type="arabicPeriod"/>
            </a:pPr>
            <a:r>
              <a:rPr lang="en-US" sz="1400" b="1" dirty="0"/>
              <a:t>For people who have an oven:</a:t>
            </a:r>
            <a:r>
              <a:rPr lang="en-US" sz="1400" dirty="0"/>
              <a:t> Preheat the oven at 220 degree Celsius, set the assorted vegetables/ pineapple/ </a:t>
            </a:r>
            <a:r>
              <a:rPr lang="en-US" sz="1400" dirty="0" err="1"/>
              <a:t>paneer</a:t>
            </a:r>
            <a:r>
              <a:rPr lang="en-US" sz="1400" dirty="0"/>
              <a:t> on the wooden skewers and grill it for about 4-5 minutes.</a:t>
            </a:r>
          </a:p>
          <a:p>
            <a:pPr marL="800100" lvl="1" indent="-342900">
              <a:buFont typeface="+mj-lt"/>
              <a:buAutoNum type="arabicPeriod"/>
            </a:pPr>
            <a:r>
              <a:rPr lang="en-US" sz="1400" dirty="0"/>
              <a:t>Your Tandoori Vegetables are ready to be served with Mint Chutney and Onions.</a:t>
            </a:r>
          </a:p>
          <a:p>
            <a:pPr marL="800100" lvl="1" indent="-342900">
              <a:buFont typeface="+mj-lt"/>
              <a:buAutoNum type="arabicPeriod"/>
            </a:pPr>
            <a:endParaRPr lang="en-US" sz="1400" dirty="0"/>
          </a:p>
          <a:p>
            <a:pPr>
              <a:buNone/>
            </a:pPr>
            <a:r>
              <a:rPr lang="en-US" sz="1800" dirty="0"/>
              <a:t>Tip from our Chef:</a:t>
            </a:r>
          </a:p>
          <a:p>
            <a:pPr>
              <a:buNone/>
            </a:pPr>
            <a:r>
              <a:rPr lang="en-US" sz="1400" dirty="0"/>
              <a:t>Kabgeer Tandoori Masala tastes better when cooked in butter or desi ghee.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Garam</a:t>
            </a:r>
            <a:r>
              <a:rPr lang="en-US" sz="3200" b="1" dirty="0"/>
              <a:t> </a:t>
            </a:r>
            <a:r>
              <a:rPr lang="en-US" sz="3200" b="1" dirty="0" err="1"/>
              <a:t>Masala</a:t>
            </a:r>
            <a:endParaRPr lang="en-US" sz="3200" b="1" dirty="0"/>
          </a:p>
        </p:txBody>
      </p:sp>
      <p:sp>
        <p:nvSpPr>
          <p:cNvPr id="3" name="Content Placeholder 2"/>
          <p:cNvSpPr>
            <a:spLocks noGrp="1"/>
          </p:cNvSpPr>
          <p:nvPr>
            <p:ph idx="1"/>
          </p:nvPr>
        </p:nvSpPr>
        <p:spPr>
          <a:xfrm>
            <a:off x="171450" y="1016000"/>
            <a:ext cx="6515100" cy="7620000"/>
          </a:xfrm>
        </p:spPr>
        <p:txBody>
          <a:bodyPr>
            <a:normAutofit/>
          </a:bodyPr>
          <a:lstStyle/>
          <a:p>
            <a:pPr>
              <a:buNone/>
            </a:pPr>
            <a:endParaRPr lang="en-US" sz="1800" b="1" dirty="0"/>
          </a:p>
          <a:p>
            <a:pPr algn="ctr">
              <a:buNone/>
            </a:pPr>
            <a:r>
              <a:rPr lang="en-US" sz="1800" b="1" dirty="0"/>
              <a:t>Ingredients:</a:t>
            </a:r>
          </a:p>
          <a:p>
            <a:pPr algn="ctr">
              <a:buNone/>
            </a:pPr>
            <a:r>
              <a:rPr lang="en-US" sz="1400" dirty="0"/>
              <a:t>Coriander, Cumin, Black Pepper, Black Cardamom, Mace, Green Cardamom, Cloves, Cinnamon, Nutmeg and Cassia Leaf.</a:t>
            </a:r>
          </a:p>
          <a:p>
            <a:pPr>
              <a:buNone/>
            </a:pPr>
            <a:endParaRPr lang="en-US" sz="1400" dirty="0"/>
          </a:p>
          <a:p>
            <a:pPr algn="ctr">
              <a:buNone/>
            </a:pPr>
            <a:r>
              <a:rPr lang="en-US" sz="1800" b="1" u="sng" dirty="0"/>
              <a:t>Kabgeer Garam Masala</a:t>
            </a:r>
            <a:endParaRPr lang="en-US" sz="1400" b="1" u="sng" dirty="0"/>
          </a:p>
          <a:p>
            <a:pPr>
              <a:buNone/>
            </a:pPr>
            <a:r>
              <a:rPr lang="en-US" sz="1600" dirty="0"/>
              <a:t>Our homemade </a:t>
            </a:r>
            <a:r>
              <a:rPr lang="en-US" sz="1600" dirty="0" err="1"/>
              <a:t>garam</a:t>
            </a:r>
            <a:r>
              <a:rPr lang="en-US" sz="1600" dirty="0"/>
              <a:t> </a:t>
            </a:r>
            <a:r>
              <a:rPr lang="en-US" sz="1600" dirty="0" err="1"/>
              <a:t>masala</a:t>
            </a:r>
            <a:r>
              <a:rPr lang="en-US" sz="1600" dirty="0"/>
              <a:t> is one of a kind recipe, which has been passed upon through generations in our family. This careful preparation of the spice mix has emerged as one of our </a:t>
            </a:r>
            <a:r>
              <a:rPr lang="en-US" sz="1600" b="1" dirty="0"/>
              <a:t>personal favorite</a:t>
            </a:r>
            <a:r>
              <a:rPr lang="en-US" sz="1600" dirty="0"/>
              <a:t>. Being one of the most popular </a:t>
            </a:r>
            <a:r>
              <a:rPr lang="en-US" sz="1600" dirty="0" err="1"/>
              <a:t>masala’s</a:t>
            </a:r>
            <a:r>
              <a:rPr lang="en-US" sz="1600" dirty="0"/>
              <a:t> in an Indian kitchen, we made sure that our </a:t>
            </a:r>
            <a:r>
              <a:rPr lang="en-US" sz="1600" dirty="0" err="1"/>
              <a:t>masala</a:t>
            </a:r>
            <a:r>
              <a:rPr lang="en-US" sz="1600" dirty="0"/>
              <a:t> is light and healthy, at the same time keeping the authentic taste intact.</a:t>
            </a:r>
          </a:p>
          <a:p>
            <a:pPr>
              <a:buNone/>
            </a:pPr>
            <a:endParaRPr lang="en-US" sz="1600" dirty="0"/>
          </a:p>
          <a:p>
            <a:pPr>
              <a:buNone/>
            </a:pPr>
            <a:r>
              <a:rPr lang="en-US" sz="1800" b="1" dirty="0"/>
              <a:t>Usage: </a:t>
            </a:r>
            <a:endParaRPr lang="en-US" sz="1800" dirty="0"/>
          </a:p>
          <a:p>
            <a:pPr>
              <a:buNone/>
            </a:pPr>
            <a:r>
              <a:rPr lang="en-US" sz="1600" dirty="0"/>
              <a:t>To be used according to the taste.</a:t>
            </a:r>
          </a:p>
          <a:p>
            <a:pPr>
              <a:buNone/>
            </a:pPr>
            <a:endParaRPr lang="en-US" sz="1600" b="1" dirty="0"/>
          </a:p>
          <a:p>
            <a:pPr>
              <a:buNone/>
            </a:pPr>
            <a:r>
              <a:rPr lang="en-US" sz="1800" b="1" dirty="0"/>
              <a:t>Tip from our Chef:</a:t>
            </a:r>
          </a:p>
          <a:p>
            <a:pPr>
              <a:buNone/>
            </a:pPr>
            <a:r>
              <a:rPr lang="en-US" sz="1800" dirty="0"/>
              <a:t>A must 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Ginger Powder</a:t>
            </a:r>
          </a:p>
        </p:txBody>
      </p:sp>
      <p:sp>
        <p:nvSpPr>
          <p:cNvPr id="3" name="Content Placeholder 2"/>
          <p:cNvSpPr>
            <a:spLocks noGrp="1"/>
          </p:cNvSpPr>
          <p:nvPr>
            <p:ph idx="1"/>
          </p:nvPr>
        </p:nvSpPr>
        <p:spPr>
          <a:xfrm>
            <a:off x="228600" y="1016000"/>
            <a:ext cx="6172200" cy="7620000"/>
          </a:xfrm>
        </p:spPr>
        <p:txBody>
          <a:bodyPr>
            <a:normAutofit/>
          </a:bodyPr>
          <a:lstStyle/>
          <a:p>
            <a:pPr algn="ctr">
              <a:buNone/>
            </a:pPr>
            <a:endParaRPr lang="en-US" sz="1800" b="1" u="sng" dirty="0"/>
          </a:p>
          <a:p>
            <a:pPr algn="ctr">
              <a:buNone/>
            </a:pPr>
            <a:r>
              <a:rPr lang="en-US" sz="1800" b="1" u="sng" dirty="0" err="1"/>
              <a:t>Kabeer’s</a:t>
            </a:r>
            <a:r>
              <a:rPr lang="en-US" sz="1800" b="1" u="sng" dirty="0"/>
              <a:t> Ginger Powder</a:t>
            </a:r>
          </a:p>
          <a:p>
            <a:pPr algn="ctr">
              <a:buNone/>
            </a:pPr>
            <a:r>
              <a:rPr lang="en-US" sz="1800" dirty="0"/>
              <a:t>Our handpicked fresh ginger is dried and grounded carefully for the perfect aroma and taste. This versatile spice can be used for different dishes and cuisines. According to various studies, Ginger is proven to have </a:t>
            </a:r>
            <a:r>
              <a:rPr lang="en-US" sz="1800" dirty="0" err="1"/>
              <a:t>alot</a:t>
            </a:r>
            <a:r>
              <a:rPr lang="en-US" sz="1800" dirty="0"/>
              <a:t> of health benefits too.</a:t>
            </a:r>
          </a:p>
          <a:p>
            <a:pPr algn="ctr">
              <a:buNone/>
            </a:pPr>
            <a:endParaRPr lang="en-US" sz="1600" b="1" dirty="0"/>
          </a:p>
          <a:p>
            <a:pPr>
              <a:buNone/>
            </a:pPr>
            <a:r>
              <a:rPr lang="en-US" sz="1600" b="1" dirty="0"/>
              <a:t>Usage:</a:t>
            </a:r>
          </a:p>
          <a:p>
            <a:pPr>
              <a:buNone/>
            </a:pPr>
            <a:r>
              <a:rPr lang="en-US" sz="1600" dirty="0"/>
              <a:t>To be used according to the taste.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Garlic Powder</a:t>
            </a:r>
          </a:p>
        </p:txBody>
      </p:sp>
      <p:sp>
        <p:nvSpPr>
          <p:cNvPr id="3" name="Content Placeholder 2"/>
          <p:cNvSpPr>
            <a:spLocks noGrp="1"/>
          </p:cNvSpPr>
          <p:nvPr>
            <p:ph idx="1"/>
          </p:nvPr>
        </p:nvSpPr>
        <p:spPr>
          <a:xfrm>
            <a:off x="228600" y="1016000"/>
            <a:ext cx="6172200" cy="7620000"/>
          </a:xfrm>
        </p:spPr>
        <p:txBody>
          <a:bodyPr>
            <a:normAutofit/>
          </a:bodyPr>
          <a:lstStyle/>
          <a:p>
            <a:pPr algn="ctr">
              <a:buNone/>
            </a:pPr>
            <a:r>
              <a:rPr lang="en-US" sz="1800" b="1" u="sng" dirty="0"/>
              <a:t>Kabgeer’s Ginger Powder</a:t>
            </a:r>
          </a:p>
          <a:p>
            <a:pPr algn="ctr">
              <a:buNone/>
            </a:pPr>
            <a:r>
              <a:rPr lang="en-US" sz="1600" dirty="0"/>
              <a:t>Our handpicked fresh garlic is dried and grounded carefully for the perfect aroma and taste. This versatile spice can be used for different dishes and cuisines. According to various studies, Garlic is proven to have </a:t>
            </a:r>
            <a:r>
              <a:rPr lang="en-US" sz="1600" dirty="0" err="1"/>
              <a:t>alot</a:t>
            </a:r>
            <a:r>
              <a:rPr lang="en-US" sz="1600" dirty="0"/>
              <a:t> of health benefits too.</a:t>
            </a:r>
          </a:p>
          <a:p>
            <a:pPr algn="ctr">
              <a:buNone/>
            </a:pPr>
            <a:endParaRPr lang="en-US" sz="1600" b="1" dirty="0"/>
          </a:p>
          <a:p>
            <a:pPr>
              <a:buNone/>
            </a:pPr>
            <a:r>
              <a:rPr lang="en-US" sz="1600" b="1" dirty="0"/>
              <a:t>Usage:</a:t>
            </a:r>
          </a:p>
          <a:p>
            <a:pPr>
              <a:buNone/>
            </a:pPr>
            <a:r>
              <a:rPr lang="en-US" sz="1600" dirty="0"/>
              <a:t>To be used according to the taste.</a:t>
            </a:r>
          </a:p>
          <a:p>
            <a:pPr>
              <a:buNone/>
            </a:pPr>
            <a:endParaRPr lang="en-US" sz="1600" dirty="0"/>
          </a:p>
          <a:p>
            <a:pPr>
              <a:buNone/>
            </a:pPr>
            <a:r>
              <a:rPr lang="en-US" sz="1600" b="1" dirty="0"/>
              <a:t>Tip from Chef:</a:t>
            </a:r>
          </a:p>
          <a:p>
            <a:pPr>
              <a:buNone/>
            </a:pPr>
            <a:r>
              <a:rPr lang="en-US" sz="1600" dirty="0"/>
              <a:t>Must try - to make garlic butter.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Meat Tenderizer</a:t>
            </a:r>
          </a:p>
        </p:txBody>
      </p:sp>
      <p:sp>
        <p:nvSpPr>
          <p:cNvPr id="3" name="Content Placeholder 2"/>
          <p:cNvSpPr>
            <a:spLocks noGrp="1"/>
          </p:cNvSpPr>
          <p:nvPr>
            <p:ph idx="1"/>
          </p:nvPr>
        </p:nvSpPr>
        <p:spPr>
          <a:xfrm>
            <a:off x="228600" y="1016000"/>
            <a:ext cx="6400800" cy="7620000"/>
          </a:xfrm>
        </p:spPr>
        <p:txBody>
          <a:bodyPr>
            <a:normAutofit/>
          </a:bodyPr>
          <a:lstStyle/>
          <a:p>
            <a:pPr algn="ctr">
              <a:buNone/>
            </a:pPr>
            <a:r>
              <a:rPr lang="en-US" sz="1800" b="1" u="sng" dirty="0"/>
              <a:t>Ingredients</a:t>
            </a:r>
          </a:p>
          <a:p>
            <a:pPr algn="ctr">
              <a:buNone/>
            </a:pPr>
            <a:r>
              <a:rPr lang="en-US" sz="1800" dirty="0"/>
              <a:t>Wild melons and Raw Papaya</a:t>
            </a:r>
          </a:p>
          <a:p>
            <a:pPr algn="ctr">
              <a:buNone/>
            </a:pPr>
            <a:endParaRPr lang="en-US" sz="1800" b="1" u="sng" dirty="0"/>
          </a:p>
          <a:p>
            <a:pPr algn="ctr">
              <a:buNone/>
            </a:pPr>
            <a:r>
              <a:rPr lang="en-US" sz="1800" b="1" u="sng" dirty="0"/>
              <a:t>Kabgeer’s Meat Tenderizer</a:t>
            </a:r>
          </a:p>
          <a:p>
            <a:pPr algn="ctr">
              <a:buNone/>
            </a:pPr>
            <a:r>
              <a:rPr lang="en-US" sz="1600" dirty="0"/>
              <a:t>While preparing our mutton, the words frozen and tender doesn’t go hand in hand. One of the biggest problem faced, while preparing mutton is to maintain it’s tenderness after the meat has been put in a deep freezer. But not anymore !!</a:t>
            </a:r>
          </a:p>
          <a:p>
            <a:pPr algn="ctr">
              <a:buNone/>
            </a:pPr>
            <a:r>
              <a:rPr lang="en-US" sz="1600" dirty="0"/>
              <a:t>Our unsalted mutton tenderizer powder made with wild melons and raw papaya, dried and grounded to perfection is here. Without any artificial ingredient and preservative, KABGEER MUTTON TENDERIZER makes your frozen mutton softer and easier to chew in no time.</a:t>
            </a:r>
          </a:p>
          <a:p>
            <a:pPr>
              <a:buNone/>
            </a:pPr>
            <a:r>
              <a:rPr lang="en-US" sz="1600" b="1" dirty="0"/>
              <a:t>Usage:</a:t>
            </a:r>
          </a:p>
          <a:p>
            <a:pPr>
              <a:buNone/>
            </a:pPr>
            <a:r>
              <a:rPr lang="en-US" sz="1600" dirty="0"/>
              <a:t>3tbsp for 1 kg Mutton (leave for 30-40 mins) </a:t>
            </a:r>
          </a:p>
          <a:p>
            <a:pPr>
              <a:buNone/>
            </a:pPr>
            <a:r>
              <a:rPr lang="en-US" sz="1600" dirty="0"/>
              <a:t>2tbsp in 1kg chicken (leave for 30-40 mins)</a:t>
            </a:r>
          </a:p>
          <a:p>
            <a:pPr>
              <a:buNone/>
            </a:pPr>
            <a:endParaRPr lang="en-US" sz="1600" dirty="0"/>
          </a:p>
          <a:p>
            <a:pPr>
              <a:buNone/>
            </a:pPr>
            <a:endParaRPr lang="en-US" sz="1600" dirty="0"/>
          </a:p>
          <a:p>
            <a:pPr>
              <a:buNone/>
            </a:pPr>
            <a:r>
              <a:rPr lang="en-US" sz="1600" b="1" dirty="0"/>
              <a:t>Tip from Chef:</a:t>
            </a:r>
          </a:p>
          <a:p>
            <a:pPr>
              <a:buNone/>
            </a:pPr>
            <a:r>
              <a:rPr lang="en-US" sz="1600" dirty="0"/>
              <a:t>Mutton should be defrosted before using the tenderizer.</a:t>
            </a:r>
          </a:p>
          <a:p>
            <a:pPr>
              <a:buNone/>
            </a:pPr>
            <a:endParaRPr lang="en-US" sz="1600" dirty="0"/>
          </a:p>
          <a:p>
            <a:pPr>
              <a:buNone/>
            </a:pPr>
            <a:endParaRPr lang="en-US" sz="16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Kadhai Paneer Masala</a:t>
            </a:r>
          </a:p>
        </p:txBody>
      </p:sp>
      <p:sp>
        <p:nvSpPr>
          <p:cNvPr id="3" name="Content Placeholder 2"/>
          <p:cNvSpPr>
            <a:spLocks noGrp="1"/>
          </p:cNvSpPr>
          <p:nvPr>
            <p:ph idx="1"/>
          </p:nvPr>
        </p:nvSpPr>
        <p:spPr>
          <a:xfrm>
            <a:off x="228600" y="1016000"/>
            <a:ext cx="6400800" cy="7620000"/>
          </a:xfrm>
        </p:spPr>
        <p:txBody>
          <a:bodyPr>
            <a:normAutofit/>
          </a:bodyPr>
          <a:lstStyle/>
          <a:p>
            <a:pPr>
              <a:buNone/>
            </a:pPr>
            <a:r>
              <a:rPr lang="en-US" sz="2000" b="1" u="sng" dirty="0"/>
              <a:t>Ingredients</a:t>
            </a:r>
          </a:p>
          <a:p>
            <a:pPr>
              <a:buNone/>
            </a:pPr>
            <a:r>
              <a:rPr lang="en-US" sz="1400" dirty="0"/>
              <a:t>Cumin, Black pepper,  Chilies, Cardamom, Cinnamon, Salt, Cassia leaf and Cloves</a:t>
            </a:r>
          </a:p>
          <a:p>
            <a:pPr>
              <a:buNone/>
            </a:pPr>
            <a:endParaRPr lang="en-US" sz="1800" dirty="0"/>
          </a:p>
          <a:p>
            <a:pPr>
              <a:buNone/>
            </a:pPr>
            <a:r>
              <a:rPr lang="en-US" sz="1800" b="1" dirty="0"/>
              <a:t>Ingredients Required:</a:t>
            </a:r>
          </a:p>
          <a:p>
            <a:pPr lvl="1">
              <a:buFont typeface="Arial" panose="020B0604020202020204" pitchFamily="34" charset="0"/>
              <a:buChar char="•"/>
            </a:pPr>
            <a:r>
              <a:rPr lang="en-US" sz="1400" dirty="0"/>
              <a:t>500gms paneer (cubes) </a:t>
            </a:r>
          </a:p>
          <a:p>
            <a:pPr lvl="1">
              <a:buFont typeface="Arial" panose="020B0604020202020204" pitchFamily="34" charset="0"/>
              <a:buChar char="•"/>
            </a:pPr>
            <a:r>
              <a:rPr lang="en-US" sz="1400" dirty="0"/>
              <a:t>3 Tbsp Oil</a:t>
            </a:r>
          </a:p>
          <a:p>
            <a:pPr lvl="1">
              <a:buFont typeface="Arial" panose="020B0604020202020204" pitchFamily="34" charset="0"/>
              <a:buChar char="•"/>
            </a:pPr>
            <a:r>
              <a:rPr lang="en-US" sz="1400" dirty="0"/>
              <a:t>2 cups mixed bell peppers (green, red, yellow)</a:t>
            </a:r>
          </a:p>
          <a:p>
            <a:pPr lvl="1">
              <a:buFont typeface="Arial" panose="020B0604020202020204" pitchFamily="34" charset="0"/>
              <a:buChar char="•"/>
            </a:pPr>
            <a:r>
              <a:rPr lang="en-US" sz="1400" dirty="0"/>
              <a:t>1 cups onions chopped (optional)</a:t>
            </a:r>
          </a:p>
          <a:p>
            <a:pPr lvl="1">
              <a:buFont typeface="Arial" panose="020B0604020202020204" pitchFamily="34" charset="0"/>
              <a:buChar char="•"/>
            </a:pPr>
            <a:r>
              <a:rPr lang="en-US" sz="1400" dirty="0"/>
              <a:t>2.5 Tsp </a:t>
            </a:r>
            <a:r>
              <a:rPr lang="en-US" sz="1400" b="1" dirty="0"/>
              <a:t>KABGEER KADHAI PANEER MASALA</a:t>
            </a:r>
          </a:p>
          <a:p>
            <a:pPr lvl="1">
              <a:buFont typeface="Arial" panose="020B0604020202020204" pitchFamily="34" charset="0"/>
              <a:buChar char="•"/>
            </a:pPr>
            <a:r>
              <a:rPr lang="en-US" sz="1400" dirty="0"/>
              <a:t>2 cups water</a:t>
            </a:r>
            <a:endParaRPr lang="en-US" sz="1600" b="1" dirty="0"/>
          </a:p>
          <a:p>
            <a:pPr>
              <a:buNone/>
            </a:pPr>
            <a:r>
              <a:rPr lang="en-US" sz="1600" b="1" dirty="0"/>
              <a:t>Steps Of Cooking (Serves- 3-4):</a:t>
            </a:r>
          </a:p>
          <a:p>
            <a:pPr>
              <a:buAutoNum type="arabicPeriod"/>
            </a:pPr>
            <a:r>
              <a:rPr lang="en-US" sz="1400" dirty="0"/>
              <a:t>Heat oil in a pan over medium heat. Add the mixed bell peppers and sauté for 5 minutes. Then, add the chopped onions (optional) and sauté till 2-3 </a:t>
            </a:r>
            <a:r>
              <a:rPr lang="en-US" sz="1400" dirty="0" err="1"/>
              <a:t>mins</a:t>
            </a:r>
            <a:r>
              <a:rPr lang="en-US" sz="1400" dirty="0"/>
              <a:t>.</a:t>
            </a:r>
          </a:p>
          <a:p>
            <a:pPr>
              <a:buAutoNum type="arabicPeriod"/>
            </a:pPr>
            <a:r>
              <a:rPr lang="en-US" sz="1400" dirty="0"/>
              <a:t>Add paneer cubes and sauté for 2-3 minutes. Add</a:t>
            </a:r>
            <a:r>
              <a:rPr lang="en-US" sz="1400" b="1" dirty="0"/>
              <a:t> Kabgeer Kadhai Paneer Masala </a:t>
            </a:r>
            <a:r>
              <a:rPr lang="en-US" sz="1400" dirty="0"/>
              <a:t>and salt (as per taste). Mix well.</a:t>
            </a:r>
          </a:p>
          <a:p>
            <a:pPr>
              <a:buAutoNum type="arabicPeriod"/>
            </a:pPr>
            <a:r>
              <a:rPr lang="en-US" sz="1400" dirty="0"/>
              <a:t>Add 2 cups of water and bring to a boil. Reduce heat and simmer for 15-20 minutes or until the sauce thickens.</a:t>
            </a:r>
          </a:p>
          <a:p>
            <a:pPr>
              <a:buAutoNum type="arabicPeriod"/>
            </a:pPr>
            <a:r>
              <a:rPr lang="en-US" sz="1400" dirty="0"/>
              <a:t>Garnish with fresh cilantro and serve hot with Butter Naan, Tandoori Roti, or Rice.</a:t>
            </a:r>
          </a:p>
          <a:p>
            <a:pPr>
              <a:buNone/>
            </a:pPr>
            <a:endParaRPr lang="en-US" sz="1600" dirty="0"/>
          </a:p>
          <a:p>
            <a:pPr>
              <a:buNone/>
            </a:pPr>
            <a:r>
              <a:rPr lang="en-US" sz="1600" b="1" dirty="0"/>
              <a:t>Tip from Chef:</a:t>
            </a:r>
          </a:p>
          <a:p>
            <a:r>
              <a:rPr lang="en-US" sz="1400" dirty="0"/>
              <a:t>Adjust the amount of masala to your desired spice level. Use any combination of vegetables you like or have on hand</a:t>
            </a:r>
            <a:r>
              <a:rPr lang="en-US" sz="1600" dirty="0"/>
              <a:t>.</a:t>
            </a:r>
          </a:p>
          <a:p>
            <a:pPr>
              <a:buNone/>
            </a:pPr>
            <a:endParaRPr lang="en-US" sz="1600" b="1" dirty="0"/>
          </a:p>
        </p:txBody>
      </p:sp>
    </p:spTree>
    <p:extLst>
      <p:ext uri="{BB962C8B-B14F-4D97-AF65-F5344CB8AC3E}">
        <p14:creationId xmlns:p14="http://schemas.microsoft.com/office/powerpoint/2010/main" val="3919978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Sabzi</a:t>
            </a:r>
            <a:r>
              <a:rPr lang="en-US" sz="3200" b="1" dirty="0"/>
              <a:t> Masala</a:t>
            </a:r>
          </a:p>
        </p:txBody>
      </p:sp>
      <p:sp>
        <p:nvSpPr>
          <p:cNvPr id="3" name="Content Placeholder 2"/>
          <p:cNvSpPr>
            <a:spLocks noGrp="1"/>
          </p:cNvSpPr>
          <p:nvPr>
            <p:ph idx="1"/>
          </p:nvPr>
        </p:nvSpPr>
        <p:spPr>
          <a:xfrm>
            <a:off x="228600" y="1016000"/>
            <a:ext cx="6400800" cy="7620000"/>
          </a:xfrm>
        </p:spPr>
        <p:txBody>
          <a:bodyPr>
            <a:normAutofit/>
          </a:bodyPr>
          <a:lstStyle/>
          <a:p>
            <a:pPr>
              <a:buNone/>
            </a:pPr>
            <a:r>
              <a:rPr lang="en-US" sz="2000" b="1" u="sng" dirty="0"/>
              <a:t>Ingredients</a:t>
            </a:r>
          </a:p>
          <a:p>
            <a:pPr>
              <a:buNone/>
            </a:pPr>
            <a:r>
              <a:rPr lang="en-US" sz="1400" dirty="0"/>
              <a:t>Coriander,  Cumin, Salt, Mango Powder,  Black Peppercorn, Fennel Seeds, Chilies, Black salt, Turmeric, Aesfoetida, Star anise, Cassia leaf and Cardamom</a:t>
            </a:r>
          </a:p>
          <a:p>
            <a:pPr>
              <a:buNone/>
            </a:pPr>
            <a:endParaRPr lang="en-US" sz="1800" dirty="0"/>
          </a:p>
          <a:p>
            <a:pPr>
              <a:buNone/>
            </a:pPr>
            <a:r>
              <a:rPr lang="en-US" sz="1800" b="1" dirty="0"/>
              <a:t>Ingredients Required:</a:t>
            </a:r>
          </a:p>
          <a:p>
            <a:pPr lvl="1">
              <a:buFont typeface="Arial" panose="020B0604020202020204" pitchFamily="34" charset="0"/>
              <a:buChar char="•"/>
            </a:pPr>
            <a:r>
              <a:rPr lang="en-US" sz="1400" dirty="0"/>
              <a:t>500g mixed dry vegetables (e.g., cauliflower, potatoes, carrots, peas)</a:t>
            </a:r>
          </a:p>
          <a:p>
            <a:pPr lvl="1">
              <a:buFont typeface="Arial" panose="020B0604020202020204" pitchFamily="34" charset="0"/>
              <a:buChar char="•"/>
            </a:pPr>
            <a:r>
              <a:rPr lang="en-US" sz="1400" dirty="0"/>
              <a:t>2 Tbsp Oil</a:t>
            </a:r>
          </a:p>
          <a:p>
            <a:pPr lvl="1">
              <a:buFont typeface="Arial" panose="020B0604020202020204" pitchFamily="34" charset="0"/>
              <a:buChar char="•"/>
            </a:pPr>
            <a:r>
              <a:rPr lang="en-US" sz="1400" dirty="0"/>
              <a:t>1/2 Tsp onion seeds (</a:t>
            </a:r>
            <a:r>
              <a:rPr lang="en-US" sz="1400" dirty="0" err="1"/>
              <a:t>kalonji</a:t>
            </a:r>
            <a:r>
              <a:rPr lang="en-US" sz="1400" dirty="0"/>
              <a:t>)</a:t>
            </a:r>
          </a:p>
          <a:p>
            <a:pPr lvl="1">
              <a:buFont typeface="Arial" panose="020B0604020202020204" pitchFamily="34" charset="0"/>
              <a:buChar char="•"/>
            </a:pPr>
            <a:r>
              <a:rPr lang="en-US" sz="1400" dirty="0"/>
              <a:t>1/2 Tsp </a:t>
            </a:r>
            <a:r>
              <a:rPr lang="en-US" sz="1400" dirty="0" err="1"/>
              <a:t>zeera</a:t>
            </a:r>
            <a:endParaRPr lang="en-US" sz="1400" dirty="0"/>
          </a:p>
          <a:p>
            <a:pPr lvl="1">
              <a:buFont typeface="Arial" panose="020B0604020202020204" pitchFamily="34" charset="0"/>
              <a:buChar char="•"/>
            </a:pPr>
            <a:r>
              <a:rPr lang="en-US" sz="1400" dirty="0"/>
              <a:t>1 Tsp red chili powder (optional</a:t>
            </a:r>
            <a:r>
              <a:rPr lang="en-US" sz="1600" dirty="0"/>
              <a:t>)</a:t>
            </a:r>
            <a:endParaRPr lang="en-US" sz="1400" dirty="0"/>
          </a:p>
          <a:p>
            <a:pPr lvl="1">
              <a:buFont typeface="Arial" panose="020B0604020202020204" pitchFamily="34" charset="0"/>
              <a:buChar char="•"/>
            </a:pPr>
            <a:r>
              <a:rPr lang="en-US" sz="1400" dirty="0"/>
              <a:t>2.5 Tsp </a:t>
            </a:r>
            <a:r>
              <a:rPr lang="en-US" sz="1400" b="1" dirty="0"/>
              <a:t>KABGEER SABZI MASALA</a:t>
            </a:r>
          </a:p>
          <a:p>
            <a:pPr>
              <a:buNone/>
            </a:pPr>
            <a:endParaRPr lang="en-US" sz="1600" b="1" dirty="0"/>
          </a:p>
          <a:p>
            <a:pPr>
              <a:buNone/>
            </a:pPr>
            <a:r>
              <a:rPr lang="en-US" sz="1600" b="1" dirty="0"/>
              <a:t>Steps Of Cooking (Serves- 3-4):</a:t>
            </a:r>
          </a:p>
          <a:p>
            <a:pPr>
              <a:buNone/>
            </a:pPr>
            <a:r>
              <a:rPr lang="en-US" sz="1600" b="1" dirty="0"/>
              <a:t>1. </a:t>
            </a:r>
            <a:r>
              <a:rPr lang="en-US" sz="1600" dirty="0"/>
              <a:t>Heat oil in a pan over medium heat. Add </a:t>
            </a:r>
            <a:r>
              <a:rPr lang="en-US" sz="1600" dirty="0" err="1"/>
              <a:t>kalonji</a:t>
            </a:r>
            <a:r>
              <a:rPr lang="en-US" sz="1600" dirty="0"/>
              <a:t> and </a:t>
            </a:r>
            <a:r>
              <a:rPr lang="en-US" sz="1600" dirty="0" err="1"/>
              <a:t>zeera</a:t>
            </a:r>
            <a:r>
              <a:rPr lang="en-US" sz="1600" dirty="0"/>
              <a:t>. Add the mixed chopped vegetables and sauté for 5 minutes.</a:t>
            </a:r>
          </a:p>
          <a:p>
            <a:pPr>
              <a:buNone/>
            </a:pPr>
            <a:r>
              <a:rPr lang="en-US" sz="1600" dirty="0"/>
              <a:t>2. Add </a:t>
            </a:r>
            <a:r>
              <a:rPr lang="en-US" sz="1600" b="1" dirty="0"/>
              <a:t>KABGEER SABZI MASALA</a:t>
            </a:r>
            <a:r>
              <a:rPr lang="en-US" sz="1600" dirty="0"/>
              <a:t>,  chili powder (if using), and salt (as per taste). Mix well. Continue to sauté for another 10-12 minutes or until the vegetables are tender and dry</a:t>
            </a:r>
          </a:p>
          <a:p>
            <a:pPr>
              <a:buNone/>
            </a:pPr>
            <a:r>
              <a:rPr lang="en-US" sz="1600" dirty="0"/>
              <a:t>3. Serve hot with Roti, Naan or Rice.</a:t>
            </a:r>
          </a:p>
          <a:p>
            <a:pPr>
              <a:buNone/>
            </a:pPr>
            <a:endParaRPr lang="en-US" sz="1600" dirty="0"/>
          </a:p>
          <a:p>
            <a:pPr>
              <a:buNone/>
            </a:pPr>
            <a:r>
              <a:rPr lang="en-US" sz="1600" b="1" dirty="0"/>
              <a:t>Tip from Chef:</a:t>
            </a:r>
          </a:p>
          <a:p>
            <a:pPr>
              <a:buNone/>
            </a:pPr>
            <a:r>
              <a:rPr lang="en-US" sz="1600" dirty="0"/>
              <a:t>Add a splash of lemon juice for extra flavor.</a:t>
            </a:r>
          </a:p>
          <a:p>
            <a:pPr>
              <a:buNone/>
            </a:pPr>
            <a:endParaRPr lang="en-US" sz="1600" b="1" dirty="0"/>
          </a:p>
        </p:txBody>
      </p:sp>
    </p:spTree>
    <p:extLst>
      <p:ext uri="{BB962C8B-B14F-4D97-AF65-F5344CB8AC3E}">
        <p14:creationId xmlns:p14="http://schemas.microsoft.com/office/powerpoint/2010/main" val="729178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Chaat Masala</a:t>
            </a:r>
          </a:p>
        </p:txBody>
      </p:sp>
      <p:sp>
        <p:nvSpPr>
          <p:cNvPr id="3" name="Content Placeholder 2"/>
          <p:cNvSpPr>
            <a:spLocks noGrp="1"/>
          </p:cNvSpPr>
          <p:nvPr>
            <p:ph idx="1"/>
          </p:nvPr>
        </p:nvSpPr>
        <p:spPr>
          <a:xfrm>
            <a:off x="228600" y="762000"/>
            <a:ext cx="6400800" cy="7620000"/>
          </a:xfrm>
        </p:spPr>
        <p:txBody>
          <a:bodyPr>
            <a:normAutofit/>
          </a:bodyPr>
          <a:lstStyle/>
          <a:p>
            <a:pPr>
              <a:buNone/>
            </a:pPr>
            <a:r>
              <a:rPr lang="en-US" sz="2000" b="1" u="sng" dirty="0"/>
              <a:t>Ingredients</a:t>
            </a:r>
          </a:p>
          <a:p>
            <a:pPr>
              <a:buNone/>
            </a:pPr>
            <a:r>
              <a:rPr lang="en-US" sz="1400" dirty="0"/>
              <a:t>Mango Powder, Cumin, Coriander, Salt, Black Salt, Lemon Salt, Carom Seeds, Aesfoetida, Black pepper &amp; Chilies.</a:t>
            </a:r>
          </a:p>
          <a:p>
            <a:pPr>
              <a:buNone/>
            </a:pPr>
            <a:endParaRPr lang="en-US" sz="1800" dirty="0"/>
          </a:p>
          <a:p>
            <a:pPr>
              <a:buNone/>
            </a:pPr>
            <a:r>
              <a:rPr lang="en-US" sz="1800" b="1" dirty="0"/>
              <a:t>Ingredients Required:</a:t>
            </a:r>
          </a:p>
          <a:p>
            <a:pPr lvl="1">
              <a:buFont typeface="Arial" panose="020B0604020202020204" pitchFamily="34" charset="0"/>
              <a:buChar char="•"/>
            </a:pPr>
            <a:r>
              <a:rPr lang="en-US" sz="1400" dirty="0"/>
              <a:t>1 Pkt of ready-made Papdi </a:t>
            </a:r>
          </a:p>
          <a:p>
            <a:pPr lvl="1">
              <a:buFont typeface="Arial" panose="020B0604020202020204" pitchFamily="34" charset="0"/>
              <a:buChar char="•"/>
            </a:pPr>
            <a:r>
              <a:rPr lang="en-US" sz="1400" dirty="0"/>
              <a:t>1 cup boiled and mashed chickpeas (Chana)</a:t>
            </a:r>
          </a:p>
          <a:p>
            <a:pPr lvl="1">
              <a:buFont typeface="Arial" panose="020B0604020202020204" pitchFamily="34" charset="0"/>
              <a:buChar char="•"/>
            </a:pPr>
            <a:r>
              <a:rPr lang="en-US" sz="1400" dirty="0"/>
              <a:t>1 cup boiled and diced potatoes </a:t>
            </a:r>
          </a:p>
          <a:p>
            <a:pPr lvl="1">
              <a:buFont typeface="Arial" panose="020B0604020202020204" pitchFamily="34" charset="0"/>
              <a:buChar char="•"/>
            </a:pPr>
            <a:r>
              <a:rPr lang="en-US" sz="1400" dirty="0"/>
              <a:t>1/2 cup diced onions</a:t>
            </a:r>
          </a:p>
          <a:p>
            <a:pPr lvl="1">
              <a:buFont typeface="Arial" panose="020B0604020202020204" pitchFamily="34" charset="0"/>
              <a:buChar char="•"/>
            </a:pPr>
            <a:r>
              <a:rPr lang="en-US" sz="1400" dirty="0"/>
              <a:t>1/2 cup diced tomatoes</a:t>
            </a:r>
          </a:p>
          <a:p>
            <a:pPr lvl="1">
              <a:buFont typeface="Arial" panose="020B0604020202020204" pitchFamily="34" charset="0"/>
              <a:buChar char="•"/>
            </a:pPr>
            <a:r>
              <a:rPr lang="en-US" sz="1400" dirty="0"/>
              <a:t>1/2 cup chopped coriander </a:t>
            </a:r>
          </a:p>
          <a:p>
            <a:pPr lvl="1">
              <a:buFont typeface="Arial" panose="020B0604020202020204" pitchFamily="34" charset="0"/>
              <a:buChar char="•"/>
            </a:pPr>
            <a:r>
              <a:rPr lang="en-US" sz="1400" dirty="0"/>
              <a:t>1/4 cup tamarind chutney</a:t>
            </a:r>
          </a:p>
          <a:p>
            <a:pPr lvl="1">
              <a:buFont typeface="Arial" panose="020B0604020202020204" pitchFamily="34" charset="0"/>
              <a:buChar char="•"/>
            </a:pPr>
            <a:r>
              <a:rPr lang="en-US" sz="1400" dirty="0"/>
              <a:t>1/4 cup green chutney</a:t>
            </a:r>
          </a:p>
          <a:p>
            <a:pPr lvl="1">
              <a:buFont typeface="Arial" panose="020B0604020202020204" pitchFamily="34" charset="0"/>
              <a:buChar char="•"/>
            </a:pPr>
            <a:r>
              <a:rPr lang="en-US" sz="1400" dirty="0"/>
              <a:t>1 cup Hung yogurt</a:t>
            </a:r>
          </a:p>
          <a:p>
            <a:pPr lvl="1">
              <a:buFont typeface="Arial" panose="020B0604020202020204" pitchFamily="34" charset="0"/>
              <a:buChar char="•"/>
            </a:pPr>
            <a:r>
              <a:rPr lang="en-US" sz="1400" dirty="0"/>
              <a:t>1 Tbsp Nylon Sev (garnish) </a:t>
            </a:r>
          </a:p>
          <a:p>
            <a:pPr lvl="1">
              <a:buFont typeface="Arial" panose="020B0604020202020204" pitchFamily="34" charset="0"/>
              <a:buChar char="•"/>
            </a:pPr>
            <a:r>
              <a:rPr lang="en-US" sz="1400" b="1" dirty="0"/>
              <a:t>Kabgeer Chaat Masala (as per taste)</a:t>
            </a:r>
          </a:p>
          <a:p>
            <a:pPr lvl="1">
              <a:buFont typeface="Arial" panose="020B0604020202020204" pitchFamily="34" charset="0"/>
              <a:buChar char="•"/>
            </a:pPr>
            <a:endParaRPr lang="en-US" sz="1400" dirty="0"/>
          </a:p>
          <a:p>
            <a:pPr>
              <a:buNone/>
            </a:pPr>
            <a:r>
              <a:rPr lang="en-US" sz="1600" b="1" dirty="0"/>
              <a:t>Steps Of Cooking (Serves: 3 - 4):</a:t>
            </a:r>
          </a:p>
          <a:p>
            <a:pPr>
              <a:buAutoNum type="arabicPeriod"/>
            </a:pPr>
            <a:r>
              <a:rPr lang="en-US" sz="1400" dirty="0"/>
              <a:t>Arrange the papdi on a serving plate or bowl. Spoon the mashed chickpeas, diced potatoes, onions, and tomatoes over the papdi.</a:t>
            </a:r>
          </a:p>
          <a:p>
            <a:pPr>
              <a:buAutoNum type="arabicPeriod"/>
            </a:pPr>
            <a:r>
              <a:rPr lang="en-US" sz="1400" dirty="0"/>
              <a:t>Drizzle the tamarind chutney and green chutney on top. Dollop the plain yogurt over the chaat. Sprinkle salt and </a:t>
            </a:r>
            <a:r>
              <a:rPr lang="en-US" sz="1400" b="1" dirty="0"/>
              <a:t>Kabgeer Chaat Masala</a:t>
            </a:r>
            <a:r>
              <a:rPr lang="en-US" sz="1400" dirty="0"/>
              <a:t> as per taste.</a:t>
            </a:r>
          </a:p>
          <a:p>
            <a:pPr>
              <a:buAutoNum type="arabicPeriod"/>
            </a:pPr>
            <a:r>
              <a:rPr lang="en-US" sz="1400" dirty="0"/>
              <a:t>Garnish with chopped coriander. Serve immediately and enjoy!</a:t>
            </a:r>
          </a:p>
          <a:p>
            <a:pPr>
              <a:buNone/>
            </a:pPr>
            <a:endParaRPr lang="en-US" sz="1600" dirty="0"/>
          </a:p>
          <a:p>
            <a:pPr>
              <a:buNone/>
            </a:pPr>
            <a:r>
              <a:rPr lang="en-US" sz="1600" b="1" dirty="0"/>
              <a:t>Tip from Chef:</a:t>
            </a:r>
          </a:p>
          <a:p>
            <a:pPr>
              <a:buNone/>
            </a:pPr>
            <a:r>
              <a:rPr lang="en-US" sz="1400" dirty="0"/>
              <a:t>Add other toppings like diced carrots, beetroot, or pomegranate seeds for added flavor and texture.</a:t>
            </a:r>
          </a:p>
          <a:p>
            <a:pPr>
              <a:buNone/>
            </a:pPr>
            <a:endParaRPr lang="en-US" sz="1600" b="1" dirty="0"/>
          </a:p>
        </p:txBody>
      </p:sp>
    </p:spTree>
    <p:extLst>
      <p:ext uri="{BB962C8B-B14F-4D97-AF65-F5344CB8AC3E}">
        <p14:creationId xmlns:p14="http://schemas.microsoft.com/office/powerpoint/2010/main" val="1390631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Kitchen King Masala</a:t>
            </a:r>
          </a:p>
        </p:txBody>
      </p:sp>
      <p:sp>
        <p:nvSpPr>
          <p:cNvPr id="3" name="Content Placeholder 2"/>
          <p:cNvSpPr>
            <a:spLocks noGrp="1"/>
          </p:cNvSpPr>
          <p:nvPr>
            <p:ph idx="1"/>
          </p:nvPr>
        </p:nvSpPr>
        <p:spPr>
          <a:xfrm>
            <a:off x="228600" y="1016000"/>
            <a:ext cx="6400800" cy="7620000"/>
          </a:xfrm>
        </p:spPr>
        <p:txBody>
          <a:bodyPr>
            <a:normAutofit/>
          </a:bodyPr>
          <a:lstStyle/>
          <a:p>
            <a:pPr>
              <a:buNone/>
            </a:pPr>
            <a:r>
              <a:rPr lang="en-US" sz="2000" b="1" u="sng" dirty="0"/>
              <a:t>Ingredients</a:t>
            </a:r>
          </a:p>
          <a:p>
            <a:pPr>
              <a:buNone/>
            </a:pPr>
            <a:r>
              <a:rPr lang="en-US" sz="1400" dirty="0"/>
              <a:t>Coriander,  Cumin, Salt, Mango Powder,  Black Peppercorn, Fennel Seeds, Chilies, Black salt, Turmeric, Fenugreek Seeds, Aesfoetida, Star anise, Cassia leaf and Cardamom</a:t>
            </a:r>
          </a:p>
          <a:p>
            <a:pPr>
              <a:buNone/>
            </a:pPr>
            <a:endParaRPr lang="en-US" sz="1800" dirty="0"/>
          </a:p>
          <a:p>
            <a:pPr>
              <a:buNone/>
            </a:pPr>
            <a:r>
              <a:rPr lang="en-US" sz="1800" b="1" dirty="0"/>
              <a:t>Ingredients Required:</a:t>
            </a:r>
          </a:p>
          <a:p>
            <a:pPr lvl="1">
              <a:buFont typeface="Arial" panose="020B0604020202020204" pitchFamily="34" charset="0"/>
              <a:buChar char="•"/>
            </a:pPr>
            <a:r>
              <a:rPr lang="en-US" sz="1400" dirty="0"/>
              <a:t>1 cup split red lentils (Masoor Dal)</a:t>
            </a:r>
          </a:p>
          <a:p>
            <a:pPr lvl="1">
              <a:buFont typeface="Arial" panose="020B0604020202020204" pitchFamily="34" charset="0"/>
              <a:buChar char="•"/>
            </a:pPr>
            <a:r>
              <a:rPr lang="en-US" sz="1400" dirty="0"/>
              <a:t>2 cups water</a:t>
            </a:r>
          </a:p>
          <a:p>
            <a:pPr lvl="1">
              <a:buFont typeface="Arial" panose="020B0604020202020204" pitchFamily="34" charset="0"/>
              <a:buChar char="•"/>
            </a:pPr>
            <a:r>
              <a:rPr lang="en-US" sz="1400" dirty="0"/>
              <a:t>1 Tsp vegetable oil</a:t>
            </a:r>
          </a:p>
          <a:p>
            <a:pPr lvl="1">
              <a:buFont typeface="Arial" panose="020B0604020202020204" pitchFamily="34" charset="0"/>
              <a:buChar char="•"/>
            </a:pPr>
            <a:r>
              <a:rPr lang="en-US" sz="1400" dirty="0"/>
              <a:t>1 Tsp </a:t>
            </a:r>
            <a:r>
              <a:rPr lang="en-US" sz="1400" b="1" dirty="0"/>
              <a:t>KABGEER KITCHEN KING MASALA</a:t>
            </a:r>
          </a:p>
          <a:p>
            <a:pPr marL="457200" lvl="1" indent="0">
              <a:buNone/>
            </a:pPr>
            <a:endParaRPr lang="en-US" sz="1600" b="1" dirty="0"/>
          </a:p>
          <a:p>
            <a:pPr>
              <a:buNone/>
            </a:pPr>
            <a:r>
              <a:rPr lang="en-US" sz="1600" b="1" dirty="0"/>
              <a:t>Steps Of Cooking (Serves- 3-4):</a:t>
            </a:r>
          </a:p>
          <a:p>
            <a:pPr>
              <a:buAutoNum type="arabicPeriod"/>
            </a:pPr>
            <a:r>
              <a:rPr lang="en-US" sz="1400" dirty="0"/>
              <a:t>Rinse the lentils and soak them in water for 30 minutes. </a:t>
            </a:r>
          </a:p>
          <a:p>
            <a:pPr>
              <a:buAutoNum type="arabicPeriod"/>
            </a:pPr>
            <a:r>
              <a:rPr lang="en-US" sz="1400" dirty="0"/>
              <a:t>Heat oil in a pan over medium heat. Add the </a:t>
            </a:r>
            <a:r>
              <a:rPr lang="en-US" sz="1400" b="1" dirty="0"/>
              <a:t>KABGEER KITCHEN KING MASALA </a:t>
            </a:r>
            <a:r>
              <a:rPr lang="en-US" sz="1400" dirty="0"/>
              <a:t>and sauté for 1 minute.</a:t>
            </a:r>
          </a:p>
          <a:p>
            <a:pPr>
              <a:buAutoNum type="arabicPeriod"/>
            </a:pPr>
            <a:r>
              <a:rPr lang="en-US" sz="1400" dirty="0"/>
              <a:t>Add the lentils and water to the pan. Bring to a boil, then reduce heat and simmer for 20-25 minutes or until the lentils are tender. Add salt as per taste.</a:t>
            </a:r>
          </a:p>
          <a:p>
            <a:pPr>
              <a:buAutoNum type="arabicPeriod"/>
            </a:pPr>
            <a:r>
              <a:rPr lang="en-US" sz="1400" dirty="0"/>
              <a:t> Serve hot with rice or roti.</a:t>
            </a:r>
          </a:p>
          <a:p>
            <a:pPr>
              <a:buNone/>
            </a:pPr>
            <a:endParaRPr lang="en-US" sz="1600" b="1" dirty="0"/>
          </a:p>
          <a:p>
            <a:pPr>
              <a:buNone/>
            </a:pPr>
            <a:endParaRPr lang="en-US" sz="1600" dirty="0"/>
          </a:p>
          <a:p>
            <a:pPr>
              <a:buNone/>
            </a:pPr>
            <a:r>
              <a:rPr lang="en-US" sz="1600" b="1" dirty="0"/>
              <a:t>Tip from Chef:</a:t>
            </a:r>
          </a:p>
          <a:p>
            <a:pPr>
              <a:buNone/>
            </a:pPr>
            <a:r>
              <a:rPr lang="en-US" sz="1400" dirty="0"/>
              <a:t>You can also use any combination of vegetables you like or have on hand. Adjust the amount of </a:t>
            </a:r>
            <a:r>
              <a:rPr lang="en-US" sz="1400" b="1" dirty="0"/>
              <a:t>KABGEER KITCHEN KING MASALA</a:t>
            </a:r>
            <a:r>
              <a:rPr lang="en-US" sz="1400" dirty="0"/>
              <a:t> to your desired spice level.</a:t>
            </a:r>
          </a:p>
          <a:p>
            <a:pPr>
              <a:buNone/>
            </a:pPr>
            <a:endParaRPr lang="en-US" sz="1600" b="1" dirty="0"/>
          </a:p>
        </p:txBody>
      </p:sp>
    </p:spTree>
    <p:extLst>
      <p:ext uri="{BB962C8B-B14F-4D97-AF65-F5344CB8AC3E}">
        <p14:creationId xmlns:p14="http://schemas.microsoft.com/office/powerpoint/2010/main" val="1123590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Red </a:t>
            </a:r>
            <a:r>
              <a:rPr lang="en-US" sz="3200" b="1" dirty="0" err="1"/>
              <a:t>Chilli</a:t>
            </a:r>
            <a:r>
              <a:rPr lang="en-US" sz="3200" b="1" dirty="0"/>
              <a:t> Powder</a:t>
            </a:r>
          </a:p>
        </p:txBody>
      </p:sp>
      <p:sp>
        <p:nvSpPr>
          <p:cNvPr id="3" name="Content Placeholder 2"/>
          <p:cNvSpPr>
            <a:spLocks noGrp="1"/>
          </p:cNvSpPr>
          <p:nvPr>
            <p:ph idx="1"/>
          </p:nvPr>
        </p:nvSpPr>
        <p:spPr>
          <a:xfrm>
            <a:off x="228600" y="1016000"/>
            <a:ext cx="6172200" cy="7620000"/>
          </a:xfrm>
        </p:spPr>
        <p:txBody>
          <a:bodyPr>
            <a:normAutofit/>
          </a:bodyPr>
          <a:lstStyle/>
          <a:p>
            <a:pPr algn="ctr">
              <a:buNone/>
            </a:pPr>
            <a:endParaRPr lang="en-US" sz="1800" b="1" u="sng" dirty="0"/>
          </a:p>
          <a:p>
            <a:pPr algn="ctr">
              <a:buNone/>
            </a:pPr>
            <a:r>
              <a:rPr lang="en-US" sz="1800" b="1" u="sng" dirty="0" err="1"/>
              <a:t>Kabeer’s</a:t>
            </a:r>
            <a:r>
              <a:rPr lang="en-US" sz="1800" b="1" u="sng" dirty="0"/>
              <a:t> Ginger Powder</a:t>
            </a:r>
          </a:p>
          <a:p>
            <a:pPr algn="ctr">
              <a:buNone/>
            </a:pPr>
            <a:r>
              <a:rPr lang="en-US" sz="1800" dirty="0"/>
              <a:t>Our handpicked fresh ginger is dried and grounded carefully for the perfect aroma and taste. This versatile spice can be used for different dishes and cuisines. According to various studies, Ginger is proven to have </a:t>
            </a:r>
            <a:r>
              <a:rPr lang="en-US" sz="1800" dirty="0" err="1"/>
              <a:t>alot</a:t>
            </a:r>
            <a:r>
              <a:rPr lang="en-US" sz="1800" dirty="0"/>
              <a:t> of health benefits too.</a:t>
            </a:r>
          </a:p>
          <a:p>
            <a:pPr algn="ctr">
              <a:buNone/>
            </a:pPr>
            <a:endParaRPr lang="en-US" sz="1600" b="1" dirty="0"/>
          </a:p>
          <a:p>
            <a:pPr>
              <a:buNone/>
            </a:pPr>
            <a:r>
              <a:rPr lang="en-US" sz="1600" b="1" dirty="0"/>
              <a:t>Usage:</a:t>
            </a:r>
          </a:p>
          <a:p>
            <a:pPr>
              <a:buNone/>
            </a:pPr>
            <a:r>
              <a:rPr lang="en-US" sz="1600" dirty="0"/>
              <a:t>To be used according to the taste.</a:t>
            </a:r>
            <a:endParaRPr lang="en-US" sz="1400" dirty="0"/>
          </a:p>
        </p:txBody>
      </p:sp>
    </p:spTree>
    <p:extLst>
      <p:ext uri="{BB962C8B-B14F-4D97-AF65-F5344CB8AC3E}">
        <p14:creationId xmlns:p14="http://schemas.microsoft.com/office/powerpoint/2010/main" val="3434795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a:t>Turmeric  Powder</a:t>
            </a:r>
          </a:p>
        </p:txBody>
      </p:sp>
      <p:sp>
        <p:nvSpPr>
          <p:cNvPr id="3" name="Content Placeholder 2"/>
          <p:cNvSpPr>
            <a:spLocks noGrp="1"/>
          </p:cNvSpPr>
          <p:nvPr>
            <p:ph idx="1"/>
          </p:nvPr>
        </p:nvSpPr>
        <p:spPr>
          <a:xfrm>
            <a:off x="228600" y="1016000"/>
            <a:ext cx="6172200" cy="7620000"/>
          </a:xfrm>
        </p:spPr>
        <p:txBody>
          <a:bodyPr>
            <a:normAutofit/>
          </a:bodyPr>
          <a:lstStyle/>
          <a:p>
            <a:pPr algn="ctr">
              <a:buNone/>
            </a:pPr>
            <a:endParaRPr lang="en-US" sz="1800" b="1" u="sng" dirty="0"/>
          </a:p>
          <a:p>
            <a:pPr algn="ctr">
              <a:buNone/>
            </a:pPr>
            <a:r>
              <a:rPr lang="en-US" sz="1800" b="1" u="sng" dirty="0" err="1"/>
              <a:t>Kabeer’s</a:t>
            </a:r>
            <a:r>
              <a:rPr lang="en-US" sz="1800" b="1" u="sng" dirty="0"/>
              <a:t> Ginger Powder</a:t>
            </a:r>
          </a:p>
          <a:p>
            <a:pPr algn="ctr">
              <a:buNone/>
            </a:pPr>
            <a:r>
              <a:rPr lang="en-US" sz="1800" dirty="0"/>
              <a:t>Our handpicked fresh ginger is dried and grounded carefully for the perfect aroma and taste. This versatile spice can be used for different dishes and cuisines. According to various studies, Ginger is proven to have </a:t>
            </a:r>
            <a:r>
              <a:rPr lang="en-US" sz="1800" dirty="0" err="1"/>
              <a:t>alot</a:t>
            </a:r>
            <a:r>
              <a:rPr lang="en-US" sz="1800" dirty="0"/>
              <a:t> of health benefits too.</a:t>
            </a:r>
          </a:p>
          <a:p>
            <a:pPr algn="ctr">
              <a:buNone/>
            </a:pPr>
            <a:endParaRPr lang="en-US" sz="1600" b="1" dirty="0"/>
          </a:p>
          <a:p>
            <a:pPr>
              <a:buNone/>
            </a:pPr>
            <a:r>
              <a:rPr lang="en-US" sz="1600" b="1" dirty="0"/>
              <a:t>Usage:</a:t>
            </a:r>
          </a:p>
          <a:p>
            <a:pPr>
              <a:buNone/>
            </a:pPr>
            <a:r>
              <a:rPr lang="en-US" sz="1600" dirty="0"/>
              <a:t>To be used according to the taste.</a:t>
            </a:r>
            <a:endParaRPr lang="en-US" sz="1400" dirty="0"/>
          </a:p>
        </p:txBody>
      </p:sp>
    </p:spTree>
    <p:extLst>
      <p:ext uri="{BB962C8B-B14F-4D97-AF65-F5344CB8AC3E}">
        <p14:creationId xmlns:p14="http://schemas.microsoft.com/office/powerpoint/2010/main" val="163183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a:t>  Corriander Powder</a:t>
            </a:r>
            <a:endParaRPr lang="en-US" sz="3200" b="1" dirty="0"/>
          </a:p>
        </p:txBody>
      </p:sp>
      <p:sp>
        <p:nvSpPr>
          <p:cNvPr id="3" name="Content Placeholder 2"/>
          <p:cNvSpPr>
            <a:spLocks noGrp="1"/>
          </p:cNvSpPr>
          <p:nvPr>
            <p:ph idx="1"/>
          </p:nvPr>
        </p:nvSpPr>
        <p:spPr>
          <a:xfrm>
            <a:off x="228600" y="1016000"/>
            <a:ext cx="6172200" cy="7620000"/>
          </a:xfrm>
        </p:spPr>
        <p:txBody>
          <a:bodyPr>
            <a:normAutofit/>
          </a:bodyPr>
          <a:lstStyle/>
          <a:p>
            <a:pPr algn="ctr">
              <a:buNone/>
            </a:pPr>
            <a:endParaRPr lang="en-US" sz="1800" b="1" u="sng" dirty="0"/>
          </a:p>
          <a:p>
            <a:pPr algn="ctr">
              <a:buNone/>
            </a:pPr>
            <a:r>
              <a:rPr lang="en-US" sz="1800" b="1" u="sng" dirty="0" err="1"/>
              <a:t>Kabeer’s</a:t>
            </a:r>
            <a:r>
              <a:rPr lang="en-US" sz="1800" b="1" u="sng" dirty="0"/>
              <a:t> Ginger Powder</a:t>
            </a:r>
          </a:p>
          <a:p>
            <a:pPr algn="ctr">
              <a:buNone/>
            </a:pPr>
            <a:r>
              <a:rPr lang="en-US" sz="1800" dirty="0"/>
              <a:t>Our handpicked fresh ginger is dried and grounded carefully for the perfect aroma and taste. This versatile spice can be used for different dishes and cuisines. According to various studies, Ginger is proven to have </a:t>
            </a:r>
            <a:r>
              <a:rPr lang="en-US" sz="1800" dirty="0" err="1"/>
              <a:t>alot</a:t>
            </a:r>
            <a:r>
              <a:rPr lang="en-US" sz="1800" dirty="0"/>
              <a:t> of health benefits too.</a:t>
            </a:r>
          </a:p>
          <a:p>
            <a:pPr algn="ctr">
              <a:buNone/>
            </a:pPr>
            <a:endParaRPr lang="en-US" sz="1600" b="1" dirty="0"/>
          </a:p>
          <a:p>
            <a:pPr>
              <a:buNone/>
            </a:pPr>
            <a:r>
              <a:rPr lang="en-US" sz="1600" b="1" dirty="0"/>
              <a:t>Usage:</a:t>
            </a:r>
          </a:p>
          <a:p>
            <a:pPr>
              <a:buNone/>
            </a:pPr>
            <a:r>
              <a:rPr lang="en-US" sz="1600" dirty="0"/>
              <a:t>To be used according to the taste.</a:t>
            </a:r>
            <a:endParaRPr lang="en-US" sz="1400" dirty="0"/>
          </a:p>
        </p:txBody>
      </p:sp>
    </p:spTree>
    <p:extLst>
      <p:ext uri="{BB962C8B-B14F-4D97-AF65-F5344CB8AC3E}">
        <p14:creationId xmlns:p14="http://schemas.microsoft.com/office/powerpoint/2010/main" val="4075011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6200"/>
            <a:ext cx="6000750" cy="954616"/>
          </a:xfrm>
        </p:spPr>
        <p:txBody>
          <a:bodyPr>
            <a:normAutofit/>
          </a:bodyPr>
          <a:lstStyle/>
          <a:p>
            <a:r>
              <a:rPr lang="en-US" sz="3200" b="1" dirty="0"/>
              <a:t>Paneer Butter Masala</a:t>
            </a:r>
          </a:p>
        </p:txBody>
      </p:sp>
      <p:sp>
        <p:nvSpPr>
          <p:cNvPr id="3" name="Content Placeholder 2"/>
          <p:cNvSpPr>
            <a:spLocks noGrp="1"/>
          </p:cNvSpPr>
          <p:nvPr>
            <p:ph idx="1"/>
          </p:nvPr>
        </p:nvSpPr>
        <p:spPr>
          <a:xfrm>
            <a:off x="228600" y="914400"/>
            <a:ext cx="6400800" cy="7620000"/>
          </a:xfrm>
        </p:spPr>
        <p:txBody>
          <a:bodyPr>
            <a:normAutofit lnSpcReduction="10000"/>
          </a:bodyPr>
          <a:lstStyle/>
          <a:p>
            <a:pPr>
              <a:buNone/>
            </a:pPr>
            <a:r>
              <a:rPr lang="en-US" sz="2000" b="1" u="sng" dirty="0"/>
              <a:t>Ingredients</a:t>
            </a:r>
          </a:p>
          <a:p>
            <a:pPr>
              <a:buNone/>
            </a:pPr>
            <a:r>
              <a:rPr lang="en-US" sz="1400" dirty="0"/>
              <a:t>Cumin, Red Chili, Peppercorns, Mango Powder, Cinnamon, Cloves, Dried Fenugreek, Star Anise, Black Cardamom and Lemongrass.</a:t>
            </a:r>
          </a:p>
          <a:p>
            <a:pPr>
              <a:buNone/>
            </a:pPr>
            <a:endParaRPr lang="en-US" sz="1800" dirty="0"/>
          </a:p>
          <a:p>
            <a:pPr>
              <a:buNone/>
            </a:pPr>
            <a:r>
              <a:rPr lang="en-US" sz="1800" b="1" dirty="0"/>
              <a:t>Ingredients Required:</a:t>
            </a:r>
          </a:p>
          <a:p>
            <a:pPr lvl="1">
              <a:buFont typeface="Arial" panose="020B0604020202020204" pitchFamily="34" charset="0"/>
              <a:buChar char="•"/>
            </a:pPr>
            <a:r>
              <a:rPr lang="en-US" sz="1400" dirty="0"/>
              <a:t>500g Paneer cubes</a:t>
            </a:r>
          </a:p>
          <a:p>
            <a:pPr lvl="1">
              <a:buFont typeface="Arial" panose="020B0604020202020204" pitchFamily="34" charset="0"/>
              <a:buChar char="•"/>
            </a:pPr>
            <a:r>
              <a:rPr lang="en-US" sz="1400" dirty="0"/>
              <a:t>4 </a:t>
            </a:r>
            <a:r>
              <a:rPr lang="en-US" sz="1400" dirty="0" err="1"/>
              <a:t>Tbsp</a:t>
            </a:r>
            <a:r>
              <a:rPr lang="en-US" sz="1400" dirty="0"/>
              <a:t> Butter or Ghee</a:t>
            </a:r>
          </a:p>
          <a:p>
            <a:pPr lvl="1">
              <a:buFont typeface="Arial" panose="020B0604020202020204" pitchFamily="34" charset="0"/>
              <a:buChar char="•"/>
            </a:pPr>
            <a:r>
              <a:rPr lang="en-US" sz="1400" dirty="0"/>
              <a:t>2 medium Onions (chopped)</a:t>
            </a:r>
          </a:p>
          <a:p>
            <a:pPr lvl="1">
              <a:buFont typeface="Arial" panose="020B0604020202020204" pitchFamily="34" charset="0"/>
              <a:buChar char="•"/>
            </a:pPr>
            <a:r>
              <a:rPr lang="en-US" sz="1400" dirty="0"/>
              <a:t>3 </a:t>
            </a:r>
            <a:r>
              <a:rPr lang="en-US" sz="1400" dirty="0" err="1"/>
              <a:t>Tbsp</a:t>
            </a:r>
            <a:r>
              <a:rPr lang="en-US" sz="1400" dirty="0"/>
              <a:t> Ginger Garlic Paste</a:t>
            </a:r>
          </a:p>
          <a:p>
            <a:pPr lvl="1">
              <a:buFont typeface="Arial" panose="020B0604020202020204" pitchFamily="34" charset="0"/>
              <a:buChar char="•"/>
            </a:pPr>
            <a:r>
              <a:rPr lang="en-US" sz="1400" dirty="0"/>
              <a:t>4-5 medium Tomato (paste)</a:t>
            </a:r>
          </a:p>
          <a:p>
            <a:pPr lvl="1">
              <a:buFont typeface="Arial" panose="020B0604020202020204" pitchFamily="34" charset="0"/>
              <a:buChar char="•"/>
            </a:pPr>
            <a:r>
              <a:rPr lang="en-US" sz="1600" dirty="0"/>
              <a:t>1 cup Heavy Cream</a:t>
            </a:r>
          </a:p>
          <a:p>
            <a:pPr lvl="1">
              <a:buFont typeface="Arial" panose="020B0604020202020204" pitchFamily="34" charset="0"/>
              <a:buChar char="•"/>
            </a:pPr>
            <a:r>
              <a:rPr lang="en-US" sz="1600" dirty="0"/>
              <a:t>Fresh Cilantro (for garnish)</a:t>
            </a:r>
          </a:p>
          <a:p>
            <a:pPr lvl="1">
              <a:buFont typeface="Arial" panose="020B0604020202020204" pitchFamily="34" charset="0"/>
              <a:buChar char="•"/>
            </a:pPr>
            <a:r>
              <a:rPr lang="en-US" sz="1600" dirty="0"/>
              <a:t>2.5 Tbsp </a:t>
            </a:r>
            <a:r>
              <a:rPr lang="en-US" sz="1600" b="1" dirty="0"/>
              <a:t>Kabgeer Butter Paneer Masala</a:t>
            </a:r>
          </a:p>
          <a:p>
            <a:pPr lvl="1">
              <a:buFont typeface="Arial" panose="020B0604020202020204" pitchFamily="34" charset="0"/>
              <a:buChar char="•"/>
            </a:pPr>
            <a:endParaRPr lang="en-US" sz="1600" b="1" dirty="0"/>
          </a:p>
          <a:p>
            <a:pPr lvl="1">
              <a:buFont typeface="Arial" panose="020B0604020202020204" pitchFamily="34" charset="0"/>
              <a:buChar char="•"/>
            </a:pPr>
            <a:endParaRPr lang="en-US" sz="1600" b="1" dirty="0"/>
          </a:p>
          <a:p>
            <a:pPr>
              <a:buNone/>
            </a:pPr>
            <a:r>
              <a:rPr lang="en-US" sz="1600" b="1" dirty="0"/>
              <a:t>Steps Of Cooking (Serves- 3-4):</a:t>
            </a:r>
          </a:p>
          <a:p>
            <a:pPr>
              <a:buFont typeface="+mj-lt"/>
              <a:buAutoNum type="arabicPeriod"/>
            </a:pPr>
            <a:r>
              <a:rPr lang="en-US" sz="1600" dirty="0"/>
              <a:t>Heat butter or ghee in a pan and sauté the chopped onion until golden brown. Add the garlic and ginger paste, and sauté for another minute. Add the tomato paste and cook until the mixture thickens. Add the </a:t>
            </a:r>
            <a:r>
              <a:rPr lang="en-US" sz="1600" b="1" dirty="0"/>
              <a:t>Kabgeer’s Butter Paneer Masala</a:t>
            </a:r>
            <a:r>
              <a:rPr lang="en-US" sz="1600" dirty="0"/>
              <a:t> and mix well. </a:t>
            </a:r>
          </a:p>
          <a:p>
            <a:pPr>
              <a:buFont typeface="+mj-lt"/>
              <a:buAutoNum type="arabicPeriod"/>
            </a:pPr>
            <a:r>
              <a:rPr lang="en-US" sz="1600" dirty="0"/>
              <a:t>Add the paneer cubes and cook until they're well coated with the masala mixture. Add the heavy cream and salt (as per taste), and simmer for 5-7 minutes or until the sauce thickens slightly. Garnish with fresh cilantro.</a:t>
            </a:r>
          </a:p>
          <a:p>
            <a:pPr>
              <a:buFont typeface="+mj-lt"/>
              <a:buAutoNum type="arabicPeriod"/>
            </a:pPr>
            <a:r>
              <a:rPr lang="en-US" sz="1600" dirty="0"/>
              <a:t>Your Paneer Butter Masala is ready to served hot with naan, rice, or roti.</a:t>
            </a:r>
          </a:p>
          <a:p>
            <a:pPr>
              <a:buNone/>
            </a:pPr>
            <a:endParaRPr lang="en-US" sz="1600" dirty="0"/>
          </a:p>
          <a:p>
            <a:pPr>
              <a:buNone/>
            </a:pPr>
            <a:r>
              <a:rPr lang="en-US" sz="1600" b="1" dirty="0"/>
              <a:t>Tip from Chef:</a:t>
            </a:r>
          </a:p>
          <a:p>
            <a:pPr>
              <a:buNone/>
            </a:pPr>
            <a:r>
              <a:rPr lang="en-US" sz="1400" dirty="0"/>
              <a:t>Adjust the amount of </a:t>
            </a:r>
            <a:r>
              <a:rPr lang="en-US" sz="1400" b="1" dirty="0"/>
              <a:t>Kabgeer Butter Paneer Masala </a:t>
            </a:r>
            <a:r>
              <a:rPr lang="en-US" sz="1400" dirty="0"/>
              <a:t>according to your taste preferences.</a:t>
            </a:r>
          </a:p>
          <a:p>
            <a:pPr>
              <a:buNone/>
            </a:pPr>
            <a:endParaRPr lang="en-US" sz="1600" b="1" dirty="0"/>
          </a:p>
        </p:txBody>
      </p:sp>
    </p:spTree>
    <p:extLst>
      <p:ext uri="{BB962C8B-B14F-4D97-AF65-F5344CB8AC3E}">
        <p14:creationId xmlns:p14="http://schemas.microsoft.com/office/powerpoint/2010/main" val="1704197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6000750" cy="954616"/>
          </a:xfrm>
        </p:spPr>
        <p:txBody>
          <a:bodyPr>
            <a:normAutofit/>
          </a:bodyPr>
          <a:lstStyle/>
          <a:p>
            <a:r>
              <a:rPr lang="en-US" sz="3200" b="1" dirty="0" err="1"/>
              <a:t>Chole</a:t>
            </a:r>
            <a:r>
              <a:rPr lang="en-US" sz="3200" b="1" dirty="0"/>
              <a:t> Masala</a:t>
            </a:r>
          </a:p>
        </p:txBody>
      </p:sp>
      <p:sp>
        <p:nvSpPr>
          <p:cNvPr id="3" name="Content Placeholder 2"/>
          <p:cNvSpPr>
            <a:spLocks noGrp="1"/>
          </p:cNvSpPr>
          <p:nvPr>
            <p:ph idx="1"/>
          </p:nvPr>
        </p:nvSpPr>
        <p:spPr>
          <a:xfrm>
            <a:off x="228600" y="1143000"/>
            <a:ext cx="6400800" cy="7620000"/>
          </a:xfrm>
        </p:spPr>
        <p:txBody>
          <a:bodyPr>
            <a:normAutofit/>
          </a:bodyPr>
          <a:lstStyle/>
          <a:p>
            <a:pPr>
              <a:buNone/>
            </a:pPr>
            <a:r>
              <a:rPr lang="en-US" sz="2000" b="1" u="sng" dirty="0"/>
              <a:t>Ingredients</a:t>
            </a:r>
          </a:p>
          <a:p>
            <a:pPr marL="0" indent="0">
              <a:buNone/>
            </a:pPr>
            <a:r>
              <a:rPr lang="en-US" sz="1400" dirty="0"/>
              <a:t>Dried Mango, Coriander, Cumin, Black Peppercorns, Cinnamon, Asafoetida, Cloves, Black cardamom, Mace, True Cardamom, Nutmeg and Cassia  </a:t>
            </a:r>
          </a:p>
          <a:p>
            <a:pPr>
              <a:buNone/>
            </a:pPr>
            <a:endParaRPr lang="en-US" sz="1800" dirty="0"/>
          </a:p>
          <a:p>
            <a:pPr>
              <a:buNone/>
            </a:pPr>
            <a:r>
              <a:rPr lang="en-US" sz="1800" b="1" dirty="0"/>
              <a:t>Ingredients Required:</a:t>
            </a:r>
          </a:p>
          <a:p>
            <a:pPr lvl="1">
              <a:buFont typeface="Arial" panose="020B0604020202020204" pitchFamily="34" charset="0"/>
              <a:buChar char="•"/>
            </a:pPr>
            <a:r>
              <a:rPr lang="en-US" sz="1200" dirty="0"/>
              <a:t>500gms Kabuli Chana (white chickpeas)</a:t>
            </a:r>
          </a:p>
          <a:p>
            <a:pPr lvl="1">
              <a:buFont typeface="Arial" panose="020B0604020202020204" pitchFamily="34" charset="0"/>
              <a:buChar char="•"/>
            </a:pPr>
            <a:r>
              <a:rPr lang="en-US" sz="1200" dirty="0"/>
              <a:t>4-5 cups water</a:t>
            </a:r>
          </a:p>
          <a:p>
            <a:pPr lvl="1">
              <a:buFont typeface="Arial" panose="020B0604020202020204" pitchFamily="34" charset="0"/>
              <a:buChar char="•"/>
            </a:pPr>
            <a:r>
              <a:rPr lang="en-US" sz="1200" dirty="0"/>
              <a:t>4-6 </a:t>
            </a:r>
            <a:r>
              <a:rPr lang="en-US" sz="1200" dirty="0" err="1"/>
              <a:t>Tbsp</a:t>
            </a:r>
            <a:r>
              <a:rPr lang="en-US" sz="1200" dirty="0"/>
              <a:t> Ghee or Oil</a:t>
            </a:r>
          </a:p>
          <a:p>
            <a:pPr lvl="1">
              <a:buFont typeface="Arial" panose="020B0604020202020204" pitchFamily="34" charset="0"/>
              <a:buChar char="•"/>
            </a:pPr>
            <a:r>
              <a:rPr lang="en-US" sz="1200" dirty="0"/>
              <a:t>2-3 inches ginger sliced</a:t>
            </a:r>
          </a:p>
          <a:p>
            <a:pPr lvl="1">
              <a:buFont typeface="Arial" panose="020B0604020202020204" pitchFamily="34" charset="0"/>
              <a:buChar char="•"/>
            </a:pPr>
            <a:r>
              <a:rPr lang="en-US" sz="1200" dirty="0"/>
              <a:t>4-6 green chilies, slit (optional)</a:t>
            </a:r>
          </a:p>
          <a:p>
            <a:pPr lvl="1">
              <a:buFont typeface="Arial" panose="020B0604020202020204" pitchFamily="34" charset="0"/>
              <a:buChar char="•"/>
            </a:pPr>
            <a:r>
              <a:rPr lang="en-US" sz="1200" dirty="0"/>
              <a:t> full Kabgeer Pindi Chole </a:t>
            </a:r>
          </a:p>
          <a:p>
            <a:pPr lvl="1">
              <a:buFont typeface="Arial" panose="020B0604020202020204" pitchFamily="34" charset="0"/>
              <a:buChar char="•"/>
            </a:pPr>
            <a:r>
              <a:rPr lang="en-US" sz="1200" dirty="0"/>
              <a:t>2-3 </a:t>
            </a:r>
            <a:r>
              <a:rPr lang="en-US" sz="1200" dirty="0" err="1"/>
              <a:t>Badi</a:t>
            </a:r>
            <a:r>
              <a:rPr lang="en-US" sz="1200" dirty="0"/>
              <a:t> </a:t>
            </a:r>
            <a:r>
              <a:rPr lang="en-US" sz="1200" dirty="0" err="1"/>
              <a:t>elaichi</a:t>
            </a:r>
            <a:r>
              <a:rPr lang="en-US" sz="1200" dirty="0"/>
              <a:t> (large cardamom)</a:t>
            </a:r>
          </a:p>
          <a:p>
            <a:pPr lvl="1">
              <a:buFont typeface="Arial" panose="020B0604020202020204" pitchFamily="34" charset="0"/>
              <a:buChar char="•"/>
            </a:pPr>
            <a:endParaRPr lang="en-US" sz="1200" dirty="0"/>
          </a:p>
          <a:p>
            <a:pPr>
              <a:buNone/>
            </a:pPr>
            <a:r>
              <a:rPr lang="en-US" sz="1600" b="1" dirty="0"/>
              <a:t>Steps Of Cooking (Serves- 4-5 people):</a:t>
            </a:r>
          </a:p>
          <a:p>
            <a:pPr>
              <a:buFont typeface="+mj-lt"/>
              <a:buAutoNum type="arabicPeriod"/>
            </a:pPr>
            <a:r>
              <a:rPr lang="en-US" sz="1600" dirty="0"/>
              <a:t>Add Kabuli Chana, water and </a:t>
            </a:r>
            <a:r>
              <a:rPr lang="en-US" sz="1600" dirty="0" err="1"/>
              <a:t>badi</a:t>
            </a:r>
            <a:r>
              <a:rPr lang="en-US" sz="1600" dirty="0"/>
              <a:t> </a:t>
            </a:r>
            <a:r>
              <a:rPr lang="en-US" sz="1600" dirty="0" err="1"/>
              <a:t>elaichi</a:t>
            </a:r>
            <a:r>
              <a:rPr lang="en-US" sz="1600" dirty="0"/>
              <a:t> in the pressure cooker until tender. Drain the water and keep the water aside. </a:t>
            </a:r>
          </a:p>
          <a:p>
            <a:pPr>
              <a:buFont typeface="+mj-lt"/>
              <a:buAutoNum type="arabicPeriod"/>
            </a:pPr>
            <a:r>
              <a:rPr lang="en-US" sz="1600" dirty="0"/>
              <a:t>Heat 2 tbsp ghee or oil in a pan and add cooked Kabuli Chana, </a:t>
            </a:r>
            <a:r>
              <a:rPr lang="en-US" sz="1600" b="1" dirty="0"/>
              <a:t>Kabgeer Pindi Chole Masala</a:t>
            </a:r>
            <a:r>
              <a:rPr lang="en-US" sz="1600" dirty="0"/>
              <a:t>,  green chilies (slit), ginger (sliced) and salt (as per taste). Mix well.</a:t>
            </a:r>
          </a:p>
          <a:p>
            <a:pPr>
              <a:buFont typeface="+mj-lt"/>
              <a:buAutoNum type="arabicPeriod"/>
            </a:pPr>
            <a:r>
              <a:rPr lang="en-US" sz="1600" dirty="0"/>
              <a:t>Separately, heat 2 </a:t>
            </a:r>
            <a:r>
              <a:rPr lang="en-US" sz="1600" dirty="0" err="1"/>
              <a:t>tbsp</a:t>
            </a:r>
            <a:r>
              <a:rPr lang="en-US" sz="1600" dirty="0"/>
              <a:t> oil and 2 </a:t>
            </a:r>
            <a:r>
              <a:rPr lang="en-US" sz="1600" dirty="0" err="1"/>
              <a:t>tbsp</a:t>
            </a:r>
            <a:r>
              <a:rPr lang="en-US" sz="1600" dirty="0"/>
              <a:t> of ghee, then pour over the </a:t>
            </a:r>
            <a:r>
              <a:rPr lang="en-US" sz="1600" dirty="0" err="1"/>
              <a:t>chole</a:t>
            </a:r>
            <a:r>
              <a:rPr lang="en-US" sz="1600" dirty="0"/>
              <a:t>. Add enough drained water to the </a:t>
            </a:r>
            <a:r>
              <a:rPr lang="en-US" sz="1600" dirty="0" err="1"/>
              <a:t>Chole</a:t>
            </a:r>
            <a:r>
              <a:rPr lang="en-US" sz="1600" dirty="0"/>
              <a:t> to achieve the desired consistency and simmer for 10-15 minutes.</a:t>
            </a:r>
          </a:p>
          <a:p>
            <a:pPr>
              <a:buFont typeface="+mj-lt"/>
              <a:buAutoNum type="arabicPeriod"/>
            </a:pPr>
            <a:r>
              <a:rPr lang="en-US" sz="1600" dirty="0"/>
              <a:t>Your </a:t>
            </a:r>
            <a:r>
              <a:rPr lang="en-US" sz="1600" dirty="0" err="1"/>
              <a:t>Chole</a:t>
            </a:r>
            <a:r>
              <a:rPr lang="en-US" sz="1600" dirty="0"/>
              <a:t> is ready to be served with </a:t>
            </a:r>
            <a:r>
              <a:rPr lang="en-US" sz="1600" dirty="0" err="1"/>
              <a:t>Kulcha</a:t>
            </a:r>
            <a:r>
              <a:rPr lang="en-US" sz="1600" dirty="0"/>
              <a:t> or </a:t>
            </a:r>
            <a:r>
              <a:rPr lang="en-US" sz="1600" dirty="0" err="1"/>
              <a:t>Bhatura</a:t>
            </a:r>
            <a:r>
              <a:rPr lang="en-US" sz="1600" dirty="0"/>
              <a:t>.</a:t>
            </a:r>
          </a:p>
          <a:p>
            <a:pPr>
              <a:buFont typeface="+mj-lt"/>
              <a:buAutoNum type="arabicPeriod"/>
            </a:pPr>
            <a:endParaRPr lang="en-US" sz="1600" dirty="0"/>
          </a:p>
          <a:p>
            <a:pPr>
              <a:buNone/>
            </a:pPr>
            <a:r>
              <a:rPr lang="en-US" sz="1600" b="1" dirty="0"/>
              <a:t>Tip from Chef:</a:t>
            </a:r>
          </a:p>
          <a:p>
            <a:pPr>
              <a:buNone/>
            </a:pPr>
            <a:r>
              <a:rPr lang="en-US" sz="1400" dirty="0"/>
              <a:t>Remember to add drained water from the pressure-cooked Kabuli Chana to achieve the desired consistency. This will help retain the flavors and nutrients.</a:t>
            </a:r>
            <a:endParaRPr lang="en-US" sz="1600" b="1" dirty="0"/>
          </a:p>
        </p:txBody>
      </p:sp>
    </p:spTree>
    <p:extLst>
      <p:ext uri="{BB962C8B-B14F-4D97-AF65-F5344CB8AC3E}">
        <p14:creationId xmlns:p14="http://schemas.microsoft.com/office/powerpoint/2010/main" val="4135349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74CB-382D-8DC6-968C-1FF778CE3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F474C-8184-B22C-08AC-63D41D8D6AE0}"/>
              </a:ext>
            </a:extLst>
          </p:cNvPr>
          <p:cNvSpPr>
            <a:spLocks noGrp="1"/>
          </p:cNvSpPr>
          <p:nvPr>
            <p:ph type="title"/>
          </p:nvPr>
        </p:nvSpPr>
        <p:spPr>
          <a:xfrm>
            <a:off x="342900" y="355600"/>
            <a:ext cx="6000750" cy="954616"/>
          </a:xfrm>
        </p:spPr>
        <p:txBody>
          <a:bodyPr>
            <a:normAutofit/>
          </a:bodyPr>
          <a:lstStyle/>
          <a:p>
            <a:r>
              <a:rPr lang="en-US" sz="3200" b="1" dirty="0"/>
              <a:t>Kashmiri Lal Mirch Powder</a:t>
            </a:r>
          </a:p>
        </p:txBody>
      </p:sp>
      <p:sp>
        <p:nvSpPr>
          <p:cNvPr id="3" name="Content Placeholder 2">
            <a:extLst>
              <a:ext uri="{FF2B5EF4-FFF2-40B4-BE49-F238E27FC236}">
                <a16:creationId xmlns:a16="http://schemas.microsoft.com/office/drawing/2014/main" id="{A157C030-C135-6104-2426-C42ACB4DE472}"/>
              </a:ext>
            </a:extLst>
          </p:cNvPr>
          <p:cNvSpPr>
            <a:spLocks noGrp="1"/>
          </p:cNvSpPr>
          <p:nvPr>
            <p:ph idx="1"/>
          </p:nvPr>
        </p:nvSpPr>
        <p:spPr>
          <a:xfrm>
            <a:off x="228600" y="1371600"/>
            <a:ext cx="6172200" cy="7620000"/>
          </a:xfrm>
        </p:spPr>
        <p:txBody>
          <a:bodyPr>
            <a:normAutofit/>
          </a:bodyPr>
          <a:lstStyle/>
          <a:p>
            <a:pPr algn="ctr">
              <a:buNone/>
            </a:pPr>
            <a:endParaRPr lang="en-US" sz="1800" b="1" u="sng" dirty="0"/>
          </a:p>
          <a:p>
            <a:pPr algn="ctr">
              <a:buNone/>
            </a:pPr>
            <a:r>
              <a:rPr lang="en-US" sz="1800" b="1" u="sng" dirty="0"/>
              <a:t>Kabeer’s  Kashmiri Lal Mirch Powder</a:t>
            </a:r>
          </a:p>
          <a:p>
            <a:pPr algn="ctr">
              <a:buNone/>
            </a:pPr>
            <a:r>
              <a:rPr lang="en-IN" sz="1600" dirty="0" err="1"/>
              <a:t>Kabgeer’s</a:t>
            </a:r>
            <a:r>
              <a:rPr lang="en-IN" sz="1600" dirty="0"/>
              <a:t> Kashmiri Lal Mirch is a high-quality red chili powder sourced from the lush valleys of Kashmir, it adds a deep red hue to dishes without making them overly spicy, making it a favourite in Indian kitchens. It rich in antioxidants and aids in digestion, making it a healthy addition to everyday cooking.</a:t>
            </a:r>
          </a:p>
          <a:p>
            <a:pPr algn="ctr">
              <a:buNone/>
            </a:pPr>
            <a:endParaRPr lang="en-IN" sz="1100" b="1" dirty="0"/>
          </a:p>
          <a:p>
            <a:pPr algn="ctr">
              <a:buNone/>
            </a:pPr>
            <a:r>
              <a:rPr lang="en-US" sz="1600" b="1" dirty="0"/>
              <a:t>Usage:</a:t>
            </a:r>
          </a:p>
          <a:p>
            <a:pPr>
              <a:buNone/>
            </a:pPr>
            <a:r>
              <a:rPr lang="en-US" sz="1600" dirty="0"/>
              <a:t>To be used according to the taste.</a:t>
            </a:r>
            <a:endParaRPr lang="en-US" sz="1400" dirty="0"/>
          </a:p>
        </p:txBody>
      </p:sp>
    </p:spTree>
    <p:extLst>
      <p:ext uri="{BB962C8B-B14F-4D97-AF65-F5344CB8AC3E}">
        <p14:creationId xmlns:p14="http://schemas.microsoft.com/office/powerpoint/2010/main" val="953274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AEE88-0962-97C6-2E32-32B502DE1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B3250-9D5C-B8D8-A25D-9EFE1ADED760}"/>
              </a:ext>
            </a:extLst>
          </p:cNvPr>
          <p:cNvSpPr>
            <a:spLocks noGrp="1"/>
          </p:cNvSpPr>
          <p:nvPr>
            <p:ph type="title"/>
          </p:nvPr>
        </p:nvSpPr>
        <p:spPr>
          <a:xfrm>
            <a:off x="342900" y="0"/>
            <a:ext cx="6000750" cy="954616"/>
          </a:xfrm>
        </p:spPr>
        <p:txBody>
          <a:bodyPr>
            <a:normAutofit/>
          </a:bodyPr>
          <a:lstStyle/>
          <a:p>
            <a:r>
              <a:rPr lang="en-US" sz="3200" b="1" dirty="0"/>
              <a:t>Chicken Biryani Masala</a:t>
            </a:r>
          </a:p>
        </p:txBody>
      </p:sp>
      <p:sp>
        <p:nvSpPr>
          <p:cNvPr id="3" name="Content Placeholder 2">
            <a:extLst>
              <a:ext uri="{FF2B5EF4-FFF2-40B4-BE49-F238E27FC236}">
                <a16:creationId xmlns:a16="http://schemas.microsoft.com/office/drawing/2014/main" id="{C0AE768C-69D7-4423-D4BA-874D88209836}"/>
              </a:ext>
            </a:extLst>
          </p:cNvPr>
          <p:cNvSpPr>
            <a:spLocks noGrp="1"/>
          </p:cNvSpPr>
          <p:nvPr>
            <p:ph idx="1"/>
          </p:nvPr>
        </p:nvSpPr>
        <p:spPr>
          <a:xfrm>
            <a:off x="228600" y="975398"/>
            <a:ext cx="6400800" cy="8077200"/>
          </a:xfrm>
        </p:spPr>
        <p:txBody>
          <a:bodyPr>
            <a:normAutofit fontScale="77500" lnSpcReduction="20000"/>
          </a:bodyPr>
          <a:lstStyle/>
          <a:p>
            <a:pPr>
              <a:buNone/>
            </a:pPr>
            <a:r>
              <a:rPr lang="en-US" sz="2000" b="1" u="sng" dirty="0"/>
              <a:t>Ingredients</a:t>
            </a:r>
          </a:p>
          <a:p>
            <a:pPr>
              <a:buNone/>
            </a:pPr>
            <a:r>
              <a:rPr lang="en-US" sz="1600" dirty="0"/>
              <a:t>Garlic, Coriander Seeds, Ginger, Cumin, Chilies, Peppercorn, Mace, Black Cardamom, Green cardamom, Cloves, Cinnamon, Nutmeg, Cassia and Iodized Salt </a:t>
            </a:r>
          </a:p>
          <a:p>
            <a:pPr>
              <a:buNone/>
            </a:pPr>
            <a:endParaRPr lang="en-US" sz="1800" dirty="0"/>
          </a:p>
          <a:p>
            <a:pPr>
              <a:buNone/>
            </a:pPr>
            <a:r>
              <a:rPr lang="en-US" sz="1800" b="1" dirty="0"/>
              <a:t>Ingredients Required:</a:t>
            </a:r>
          </a:p>
          <a:p>
            <a:r>
              <a:rPr lang="en-US" sz="1600" dirty="0"/>
              <a:t>500g chicken</a:t>
            </a:r>
          </a:p>
          <a:p>
            <a:r>
              <a:rPr lang="en-US" sz="1600" dirty="0"/>
              <a:t>2 tbsp oil/ghee</a:t>
            </a:r>
          </a:p>
          <a:p>
            <a:r>
              <a:rPr lang="en-US" sz="1600" dirty="0"/>
              <a:t>1 large onion, sliced</a:t>
            </a:r>
          </a:p>
          <a:p>
            <a:r>
              <a:rPr lang="en-US" sz="1600" dirty="0"/>
              <a:t>2 tomatoes, chopped</a:t>
            </a:r>
          </a:p>
          <a:p>
            <a:r>
              <a:rPr lang="en-US" sz="1600" dirty="0"/>
              <a:t>⁠20g fresh coriander leaves</a:t>
            </a:r>
          </a:p>
          <a:p>
            <a:r>
              <a:rPr lang="en-US" sz="1600" dirty="0"/>
              <a:t>⁠20g fresh mint leaves</a:t>
            </a:r>
          </a:p>
          <a:p>
            <a:r>
              <a:rPr lang="en-US" sz="1600" dirty="0"/>
              <a:t>2 Tbsp lemon juice</a:t>
            </a:r>
          </a:p>
          <a:p>
            <a:r>
              <a:rPr lang="en-US" sz="1600" dirty="0"/>
              <a:t>⁠50g yogurt</a:t>
            </a:r>
          </a:p>
          <a:p>
            <a:r>
              <a:rPr lang="en-US" sz="1600" dirty="0"/>
              <a:t>500g basmati rice</a:t>
            </a:r>
          </a:p>
          <a:p>
            <a:r>
              <a:rPr lang="en-US" sz="1600" dirty="0"/>
              <a:t>4 cups water</a:t>
            </a:r>
          </a:p>
          <a:p>
            <a:r>
              <a:rPr lang="en-US" sz="1600" dirty="0"/>
              <a:t>1/2 tsp zeera</a:t>
            </a:r>
          </a:p>
          <a:p>
            <a:r>
              <a:rPr lang="en-US" sz="1600" dirty="0"/>
              <a:t>⁠1/4 tsp </a:t>
            </a:r>
            <a:r>
              <a:rPr lang="en-US" sz="1600" dirty="0" err="1"/>
              <a:t>saunf</a:t>
            </a:r>
            <a:endParaRPr lang="en-US" sz="1600" dirty="0"/>
          </a:p>
          <a:p>
            <a:r>
              <a:rPr lang="en-US" sz="1600" dirty="0"/>
              <a:t>1/2 star anise</a:t>
            </a:r>
          </a:p>
          <a:p>
            <a:r>
              <a:rPr lang="en-US" sz="1600" dirty="0"/>
              <a:t>1 </a:t>
            </a:r>
            <a:r>
              <a:rPr lang="en-US" sz="1600" dirty="0" err="1"/>
              <a:t>dalchini</a:t>
            </a:r>
            <a:r>
              <a:rPr lang="en-US" sz="1600" dirty="0"/>
              <a:t> stick</a:t>
            </a:r>
          </a:p>
          <a:p>
            <a:r>
              <a:rPr lang="en-US" sz="1600" dirty="0"/>
              <a:t>4 </a:t>
            </a:r>
            <a:r>
              <a:rPr lang="en-US" sz="1600" dirty="0" err="1"/>
              <a:t>laung</a:t>
            </a:r>
            <a:r>
              <a:rPr lang="en-US" sz="1600" dirty="0"/>
              <a:t> (cloves)</a:t>
            </a:r>
          </a:p>
          <a:p>
            <a:r>
              <a:rPr lang="en-US" sz="1600" dirty="0"/>
              <a:t>⁠4 </a:t>
            </a:r>
            <a:r>
              <a:rPr lang="en-US" sz="1600" dirty="0" err="1"/>
              <a:t>choti</a:t>
            </a:r>
            <a:r>
              <a:rPr lang="en-US" sz="1600" dirty="0"/>
              <a:t> </a:t>
            </a:r>
            <a:r>
              <a:rPr lang="en-US" sz="1600" dirty="0" err="1"/>
              <a:t>elaichi</a:t>
            </a:r>
            <a:r>
              <a:rPr lang="en-US" sz="1600" dirty="0"/>
              <a:t> (green cardamom)</a:t>
            </a:r>
          </a:p>
          <a:p>
            <a:r>
              <a:rPr lang="en-US" sz="1600" dirty="0"/>
              <a:t>5-8 kali </a:t>
            </a:r>
            <a:r>
              <a:rPr lang="en-US" sz="1600" dirty="0" err="1"/>
              <a:t>mirch</a:t>
            </a:r>
            <a:r>
              <a:rPr lang="en-US" sz="1600" dirty="0"/>
              <a:t> (black peppercorns)</a:t>
            </a:r>
          </a:p>
          <a:p>
            <a:r>
              <a:rPr lang="en-US" sz="1600" dirty="0"/>
              <a:t>⁠8-10 </a:t>
            </a:r>
            <a:r>
              <a:rPr lang="en-US" sz="1600" dirty="0" err="1"/>
              <a:t>hari</a:t>
            </a:r>
            <a:r>
              <a:rPr lang="en-US" sz="1600" dirty="0"/>
              <a:t> </a:t>
            </a:r>
            <a:r>
              <a:rPr lang="en-US" sz="1600" dirty="0" err="1"/>
              <a:t>mirch</a:t>
            </a:r>
            <a:r>
              <a:rPr lang="en-US" sz="1600" dirty="0"/>
              <a:t> (green chilies)</a:t>
            </a:r>
          </a:p>
          <a:p>
            <a:r>
              <a:rPr lang="en-US" sz="1600" dirty="0"/>
              <a:t>Edible food color (optional)</a:t>
            </a:r>
          </a:p>
          <a:p>
            <a:r>
              <a:rPr lang="en-US" sz="1600" dirty="0"/>
              <a:t>1Tbsp Kewra Water -</a:t>
            </a:r>
          </a:p>
          <a:p>
            <a:r>
              <a:rPr lang="en-US" sz="1600" b="1" dirty="0"/>
              <a:t>Full Kabgeer Chicken Biryani Masala</a:t>
            </a:r>
            <a:endParaRPr lang="en-US" sz="1900" b="1" dirty="0"/>
          </a:p>
          <a:p>
            <a:pPr lvl="1">
              <a:buFont typeface="Arial" panose="020B0604020202020204" pitchFamily="34" charset="0"/>
              <a:buChar char="•"/>
            </a:pPr>
            <a:endParaRPr lang="en-US" sz="1200" dirty="0"/>
          </a:p>
          <a:p>
            <a:pPr>
              <a:buNone/>
            </a:pPr>
            <a:r>
              <a:rPr lang="en-US" sz="1600" b="1" dirty="0"/>
              <a:t>Steps Of Cooking (Serves- 4-5 people):</a:t>
            </a:r>
          </a:p>
          <a:p>
            <a:pPr>
              <a:buFont typeface="+mj-lt"/>
              <a:buAutoNum type="arabicPeriod"/>
            </a:pPr>
            <a:r>
              <a:rPr lang="en-US" sz="1600" dirty="0"/>
              <a:t>Marinate 500g Chicken with </a:t>
            </a:r>
            <a:r>
              <a:rPr lang="en-US" sz="1600" b="1" dirty="0"/>
              <a:t>Kabgeer Chicken Biryani Masala</a:t>
            </a:r>
            <a:r>
              <a:rPr lang="en-US" sz="1600" dirty="0"/>
              <a:t>, tomatoes, coriander leaves, mint leaves, lemon juice, salt (as per taste) and yogurt, leave for 30 mins.</a:t>
            </a:r>
          </a:p>
          <a:p>
            <a:pPr>
              <a:buFont typeface="+mj-lt"/>
              <a:buAutoNum type="arabicPeriod"/>
            </a:pPr>
            <a:r>
              <a:rPr lang="en-US" sz="1600" dirty="0"/>
              <a:t>Heat oil in a pot and sauté sliced onions until golden brown. Add the marinated chicken to the sautéed onions and cook until tender.</a:t>
            </a:r>
          </a:p>
          <a:p>
            <a:pPr>
              <a:buFont typeface="+mj-lt"/>
              <a:buAutoNum type="arabicPeriod"/>
            </a:pPr>
            <a:r>
              <a:rPr lang="en-US" sz="1600" dirty="0"/>
              <a:t>Boil 4 cups water with whole spices(mentioned above), salt (as per taste) and 500g basmati rice and cook until 70% done. Drain excess water.</a:t>
            </a:r>
          </a:p>
          <a:p>
            <a:pPr>
              <a:buFont typeface="+mj-lt"/>
              <a:buAutoNum type="arabicPeriod"/>
            </a:pPr>
            <a:r>
              <a:rPr lang="en-US" sz="1600" dirty="0"/>
              <a:t>Layer cooked rice and chicken preparation one by one. Add 1 tbsp kewra water, edible orange food color (optional) and fried onions.</a:t>
            </a:r>
          </a:p>
          <a:p>
            <a:pPr>
              <a:buFont typeface="+mj-lt"/>
              <a:buAutoNum type="arabicPeriod"/>
            </a:pPr>
            <a:r>
              <a:rPr lang="en-US" sz="1600" dirty="0"/>
              <a:t>⁠Dum (steam) until flavors blend for 10—15 mins on a low flame. </a:t>
            </a:r>
          </a:p>
          <a:p>
            <a:pPr>
              <a:buFont typeface="+mj-lt"/>
              <a:buAutoNum type="arabicPeriod"/>
            </a:pPr>
            <a:r>
              <a:rPr lang="en-US" sz="1600" dirty="0"/>
              <a:t>Kabgeer’s Chicken Biryani is ready. Serve hot  and enjoy with Raita, Onions and Green Chutney.</a:t>
            </a:r>
          </a:p>
          <a:p>
            <a:pPr marL="0" indent="0">
              <a:buNone/>
            </a:pPr>
            <a:endParaRPr lang="en-US" sz="1600" dirty="0"/>
          </a:p>
          <a:p>
            <a:pPr>
              <a:buFont typeface="+mj-lt"/>
              <a:buAutoNum type="arabicPeriod"/>
            </a:pPr>
            <a:endParaRPr lang="en-US" sz="1600" dirty="0"/>
          </a:p>
          <a:p>
            <a:pPr>
              <a:buNone/>
            </a:pPr>
            <a:r>
              <a:rPr lang="en-US" sz="1600" b="1" dirty="0"/>
              <a:t>Tip from Chef:</a:t>
            </a:r>
          </a:p>
          <a:p>
            <a:pPr>
              <a:buNone/>
            </a:pPr>
            <a:r>
              <a:rPr lang="en-US" sz="1600" dirty="0"/>
              <a:t>Let Kabgeer’s Chicken Biryani rest for 30-45 mins before serving.</a:t>
            </a:r>
          </a:p>
        </p:txBody>
      </p:sp>
    </p:spTree>
    <p:extLst>
      <p:ext uri="{BB962C8B-B14F-4D97-AF65-F5344CB8AC3E}">
        <p14:creationId xmlns:p14="http://schemas.microsoft.com/office/powerpoint/2010/main" val="2248053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7783A-562F-7FED-E30D-3C13FEB92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22B17-E526-EF28-EA65-168C921ED216}"/>
              </a:ext>
            </a:extLst>
          </p:cNvPr>
          <p:cNvSpPr>
            <a:spLocks noGrp="1"/>
          </p:cNvSpPr>
          <p:nvPr>
            <p:ph type="title"/>
          </p:nvPr>
        </p:nvSpPr>
        <p:spPr>
          <a:xfrm>
            <a:off x="342900" y="0"/>
            <a:ext cx="6000750" cy="954616"/>
          </a:xfrm>
        </p:spPr>
        <p:txBody>
          <a:bodyPr>
            <a:normAutofit/>
          </a:bodyPr>
          <a:lstStyle/>
          <a:p>
            <a:r>
              <a:rPr lang="en-US" sz="3200" b="1" dirty="0"/>
              <a:t>Mutton Biryani Masala</a:t>
            </a:r>
          </a:p>
        </p:txBody>
      </p:sp>
      <p:sp>
        <p:nvSpPr>
          <p:cNvPr id="3" name="Content Placeholder 2">
            <a:extLst>
              <a:ext uri="{FF2B5EF4-FFF2-40B4-BE49-F238E27FC236}">
                <a16:creationId xmlns:a16="http://schemas.microsoft.com/office/drawing/2014/main" id="{CD750395-BDBA-2F04-8752-80A4FB63E49B}"/>
              </a:ext>
            </a:extLst>
          </p:cNvPr>
          <p:cNvSpPr>
            <a:spLocks noGrp="1"/>
          </p:cNvSpPr>
          <p:nvPr>
            <p:ph idx="1"/>
          </p:nvPr>
        </p:nvSpPr>
        <p:spPr>
          <a:xfrm>
            <a:off x="228600" y="762000"/>
            <a:ext cx="6400800" cy="8153400"/>
          </a:xfrm>
        </p:spPr>
        <p:txBody>
          <a:bodyPr>
            <a:normAutofit fontScale="70000" lnSpcReduction="20000"/>
          </a:bodyPr>
          <a:lstStyle/>
          <a:p>
            <a:pPr>
              <a:buNone/>
            </a:pPr>
            <a:r>
              <a:rPr lang="en-US" sz="2000" b="1" u="sng" dirty="0"/>
              <a:t>Ingredients</a:t>
            </a:r>
          </a:p>
          <a:p>
            <a:pPr>
              <a:buNone/>
            </a:pPr>
            <a:r>
              <a:rPr lang="en-US" sz="1800" dirty="0"/>
              <a:t>Garlic, Ginger, Coriander Seeds, Chilies, Cumin, Peppercorn, Black Cardamom,  Mace, Green cardamom, Cloves, Cinnamon, Nutmeg, Cassia and Iodized Salt. </a:t>
            </a:r>
          </a:p>
          <a:p>
            <a:pPr>
              <a:buNone/>
            </a:pPr>
            <a:endParaRPr lang="en-US" sz="1800" dirty="0"/>
          </a:p>
          <a:p>
            <a:pPr>
              <a:buNone/>
            </a:pPr>
            <a:r>
              <a:rPr lang="en-US" sz="1800" b="1" dirty="0"/>
              <a:t>Ingredients Required:</a:t>
            </a:r>
          </a:p>
          <a:p>
            <a:r>
              <a:rPr lang="en-US" sz="1400" dirty="0"/>
              <a:t>⁠</a:t>
            </a:r>
            <a:r>
              <a:rPr lang="en-US" sz="1800" dirty="0"/>
              <a:t>500g mutton</a:t>
            </a:r>
          </a:p>
          <a:p>
            <a:r>
              <a:rPr lang="en-US" sz="1800" dirty="0"/>
              <a:t>230g oil</a:t>
            </a:r>
          </a:p>
          <a:p>
            <a:r>
              <a:rPr lang="en-US" sz="1800" dirty="0"/>
              <a:t>⁠200g onion, sliced</a:t>
            </a:r>
          </a:p>
          <a:p>
            <a:r>
              <a:rPr lang="en-US" sz="1800" dirty="0"/>
              <a:t>500g basmati rice</a:t>
            </a:r>
          </a:p>
          <a:p>
            <a:r>
              <a:rPr lang="en-US" sz="1800" dirty="0"/>
              <a:t>⁠100g </a:t>
            </a:r>
            <a:r>
              <a:rPr lang="en-US" sz="1800" dirty="0" err="1"/>
              <a:t>dahi</a:t>
            </a:r>
            <a:r>
              <a:rPr lang="en-US" sz="1800" dirty="0"/>
              <a:t> (yogurt)</a:t>
            </a:r>
          </a:p>
          <a:p>
            <a:r>
              <a:rPr lang="en-US" sz="1800" dirty="0"/>
              <a:t>1/2 tsp zeera</a:t>
            </a:r>
          </a:p>
          <a:p>
            <a:r>
              <a:rPr lang="en-US" sz="1800" dirty="0"/>
              <a:t>⁠1/4 tsp </a:t>
            </a:r>
            <a:r>
              <a:rPr lang="en-US" sz="1800" dirty="0" err="1"/>
              <a:t>saunf</a:t>
            </a:r>
            <a:endParaRPr lang="en-US" sz="1800" dirty="0"/>
          </a:p>
          <a:p>
            <a:r>
              <a:rPr lang="en-US" sz="1800" dirty="0"/>
              <a:t>1/2 star anise</a:t>
            </a:r>
          </a:p>
          <a:p>
            <a:r>
              <a:rPr lang="en-US" sz="1800" dirty="0"/>
              <a:t>1 </a:t>
            </a:r>
            <a:r>
              <a:rPr lang="en-US" sz="1800" dirty="0" err="1"/>
              <a:t>dalchini</a:t>
            </a:r>
            <a:r>
              <a:rPr lang="en-US" sz="1800" dirty="0"/>
              <a:t> stick</a:t>
            </a:r>
          </a:p>
          <a:p>
            <a:r>
              <a:rPr lang="en-US" sz="1800" dirty="0"/>
              <a:t>4 </a:t>
            </a:r>
            <a:r>
              <a:rPr lang="en-US" sz="1800" dirty="0" err="1"/>
              <a:t>laung</a:t>
            </a:r>
            <a:r>
              <a:rPr lang="en-US" sz="1800" dirty="0"/>
              <a:t> (cloves)</a:t>
            </a:r>
          </a:p>
          <a:p>
            <a:r>
              <a:rPr lang="en-US" sz="1800" dirty="0"/>
              <a:t>⁠4 </a:t>
            </a:r>
            <a:r>
              <a:rPr lang="en-US" sz="1800" dirty="0" err="1"/>
              <a:t>choti</a:t>
            </a:r>
            <a:r>
              <a:rPr lang="en-US" sz="1800" dirty="0"/>
              <a:t> </a:t>
            </a:r>
            <a:r>
              <a:rPr lang="en-US" sz="1800" dirty="0" err="1"/>
              <a:t>elaichi</a:t>
            </a:r>
            <a:r>
              <a:rPr lang="en-US" sz="1800" dirty="0"/>
              <a:t> (green cardamom)</a:t>
            </a:r>
          </a:p>
          <a:p>
            <a:r>
              <a:rPr lang="en-US" sz="1800" dirty="0"/>
              <a:t>5-8 kali </a:t>
            </a:r>
            <a:r>
              <a:rPr lang="en-US" sz="1800" dirty="0" err="1"/>
              <a:t>mirch</a:t>
            </a:r>
            <a:r>
              <a:rPr lang="en-US" sz="1800" dirty="0"/>
              <a:t> (black peppercorns)</a:t>
            </a:r>
          </a:p>
          <a:p>
            <a:r>
              <a:rPr lang="en-US" sz="1800" dirty="0"/>
              <a:t>⁠8-10 </a:t>
            </a:r>
            <a:r>
              <a:rPr lang="en-US" sz="1800" dirty="0" err="1"/>
              <a:t>hari</a:t>
            </a:r>
            <a:r>
              <a:rPr lang="en-US" sz="1800" dirty="0"/>
              <a:t> </a:t>
            </a:r>
            <a:r>
              <a:rPr lang="en-US" sz="1800" dirty="0" err="1"/>
              <a:t>mirch</a:t>
            </a:r>
            <a:r>
              <a:rPr lang="en-US" sz="1800" dirty="0"/>
              <a:t> (green chilies)</a:t>
            </a:r>
          </a:p>
          <a:p>
            <a:r>
              <a:rPr lang="en-US" sz="1800" dirty="0"/>
              <a:t>1 tbsp kewra water</a:t>
            </a:r>
          </a:p>
          <a:p>
            <a:r>
              <a:rPr lang="en-US" sz="1800" dirty="0"/>
              <a:t>Optional: Edible orange food color</a:t>
            </a:r>
          </a:p>
          <a:p>
            <a:r>
              <a:rPr lang="en-US" sz="1800" b="1" dirty="0"/>
              <a:t>Full ⁠Kabgeer Mutton Biryani Masala </a:t>
            </a:r>
          </a:p>
          <a:p>
            <a:pPr>
              <a:buNone/>
            </a:pPr>
            <a:endParaRPr lang="en-US" sz="1600" b="1" dirty="0"/>
          </a:p>
          <a:p>
            <a:pPr>
              <a:buNone/>
            </a:pPr>
            <a:r>
              <a:rPr lang="en-US" sz="1700" b="1" dirty="0"/>
              <a:t>Steps Of Cooking (Serves- 4-5 people):</a:t>
            </a:r>
          </a:p>
          <a:p>
            <a:pPr>
              <a:buFont typeface="+mj-lt"/>
              <a:buAutoNum type="arabicPeriod"/>
            </a:pPr>
            <a:r>
              <a:rPr lang="en-US" sz="2000" dirty="0"/>
              <a:t>⁠Marinate 500g mutton with 100g </a:t>
            </a:r>
            <a:r>
              <a:rPr lang="en-US" sz="2000" dirty="0" err="1"/>
              <a:t>dahi</a:t>
            </a:r>
            <a:r>
              <a:rPr lang="en-US" sz="2000" dirty="0"/>
              <a:t> and </a:t>
            </a:r>
            <a:r>
              <a:rPr lang="en-US" sz="2000" b="1" dirty="0"/>
              <a:t>Kabgeer Biryani Masala, </a:t>
            </a:r>
            <a:r>
              <a:rPr lang="en-US" sz="2000" dirty="0"/>
              <a:t>for 30-45 mins.</a:t>
            </a:r>
          </a:p>
          <a:p>
            <a:pPr>
              <a:buFont typeface="+mj-lt"/>
              <a:buAutoNum type="arabicPeriod"/>
            </a:pPr>
            <a:r>
              <a:rPr lang="en-US" sz="2000" dirty="0"/>
              <a:t>Heat Oil, cook sliced onions until golden brown in a pot, keep half onions aside, then add marinated mutton and cook until tender. </a:t>
            </a:r>
          </a:p>
          <a:p>
            <a:pPr>
              <a:buFont typeface="+mj-lt"/>
              <a:buAutoNum type="arabicPeriod"/>
            </a:pPr>
            <a:r>
              <a:rPr lang="en-US" sz="2000" dirty="0"/>
              <a:t>Boil 4 cups water with whole spices (mentioned above), salt (as per taste) and add 500g basmati rice in another pot and cook until 70% done. Drain excess water.</a:t>
            </a:r>
          </a:p>
          <a:p>
            <a:pPr>
              <a:buFont typeface="+mj-lt"/>
              <a:buAutoNum type="arabicPeriod"/>
            </a:pPr>
            <a:r>
              <a:rPr lang="en-US" sz="2000" dirty="0"/>
              <a:t>Layer cooked rice and mutton preparation one by one. Add 1 tbsp kewra water, optional edible orange food color and fried onions (which were kept aside)on top.</a:t>
            </a:r>
          </a:p>
          <a:p>
            <a:pPr>
              <a:buFont typeface="+mj-lt"/>
              <a:buAutoNum type="arabicPeriod"/>
            </a:pPr>
            <a:r>
              <a:rPr lang="en-US" sz="2000" dirty="0"/>
              <a:t>⁠Dum (steam) until flavors blend for 10—15 mins on a low flame. </a:t>
            </a:r>
          </a:p>
          <a:p>
            <a:pPr>
              <a:buFont typeface="+mj-lt"/>
              <a:buAutoNum type="arabicPeriod"/>
            </a:pPr>
            <a:r>
              <a:rPr lang="en-US" sz="2000" dirty="0"/>
              <a:t>Kabgeer’s Mutton Biryani is ready. Serve hot  and enjoy with Raita, Onions and Green Chutney.</a:t>
            </a:r>
          </a:p>
          <a:p>
            <a:pPr>
              <a:buFont typeface="+mj-lt"/>
              <a:buAutoNum type="arabicPeriod"/>
            </a:pPr>
            <a:endParaRPr lang="en-US" sz="1700" dirty="0"/>
          </a:p>
          <a:p>
            <a:pPr>
              <a:buNone/>
            </a:pPr>
            <a:r>
              <a:rPr lang="en-US" sz="1700" b="1" dirty="0"/>
              <a:t>Tip from Chef:</a:t>
            </a:r>
          </a:p>
          <a:p>
            <a:pPr>
              <a:buNone/>
            </a:pPr>
            <a:r>
              <a:rPr lang="en-US" sz="2000" dirty="0"/>
              <a:t>Let Kabgeer’s Mutton Biryani rest for </a:t>
            </a:r>
            <a:r>
              <a:rPr lang="en-US" sz="2300" dirty="0"/>
              <a:t>30-45</a:t>
            </a:r>
            <a:r>
              <a:rPr lang="en-US" sz="2000" dirty="0"/>
              <a:t> mins before serving</a:t>
            </a:r>
            <a:r>
              <a:rPr lang="en-US" sz="1800" dirty="0"/>
              <a:t>.</a:t>
            </a:r>
          </a:p>
        </p:txBody>
      </p:sp>
    </p:spTree>
    <p:extLst>
      <p:ext uri="{BB962C8B-B14F-4D97-AF65-F5344CB8AC3E}">
        <p14:creationId xmlns:p14="http://schemas.microsoft.com/office/powerpoint/2010/main" val="322051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9A851-C014-3AA3-E44D-3D6146B18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4200D-1D05-AC15-0B60-E4E39C01197A}"/>
              </a:ext>
            </a:extLst>
          </p:cNvPr>
          <p:cNvSpPr>
            <a:spLocks noGrp="1"/>
          </p:cNvSpPr>
          <p:nvPr>
            <p:ph type="title"/>
          </p:nvPr>
        </p:nvSpPr>
        <p:spPr>
          <a:xfrm>
            <a:off x="342900" y="-192616"/>
            <a:ext cx="6000750" cy="954616"/>
          </a:xfrm>
        </p:spPr>
        <p:txBody>
          <a:bodyPr>
            <a:normAutofit/>
          </a:bodyPr>
          <a:lstStyle/>
          <a:p>
            <a:r>
              <a:rPr lang="en-US" sz="3200" b="1" dirty="0"/>
              <a:t>Veg Biryani Masala</a:t>
            </a:r>
          </a:p>
        </p:txBody>
      </p:sp>
      <p:sp>
        <p:nvSpPr>
          <p:cNvPr id="3" name="Content Placeholder 2">
            <a:extLst>
              <a:ext uri="{FF2B5EF4-FFF2-40B4-BE49-F238E27FC236}">
                <a16:creationId xmlns:a16="http://schemas.microsoft.com/office/drawing/2014/main" id="{174D7465-CF4E-96FC-1A34-DDBAE066515A}"/>
              </a:ext>
            </a:extLst>
          </p:cNvPr>
          <p:cNvSpPr>
            <a:spLocks noGrp="1"/>
          </p:cNvSpPr>
          <p:nvPr>
            <p:ph idx="1"/>
          </p:nvPr>
        </p:nvSpPr>
        <p:spPr>
          <a:xfrm>
            <a:off x="228600" y="533400"/>
            <a:ext cx="6477000" cy="8229600"/>
          </a:xfrm>
        </p:spPr>
        <p:txBody>
          <a:bodyPr>
            <a:normAutofit fontScale="92500" lnSpcReduction="20000"/>
          </a:bodyPr>
          <a:lstStyle/>
          <a:p>
            <a:pPr>
              <a:buNone/>
            </a:pPr>
            <a:r>
              <a:rPr lang="en-US" sz="2000" b="1" u="sng" dirty="0"/>
              <a:t>Ingredients</a:t>
            </a:r>
          </a:p>
          <a:p>
            <a:pPr>
              <a:buNone/>
            </a:pPr>
            <a:r>
              <a:rPr lang="en-US" sz="1500" dirty="0"/>
              <a:t>Coriander Seeds, Cumin, Peppercorns, Black Cardamom, Iodized salt, Chilies, Green Cardamom, Cinnamon, Nutmeg, Mace and Cloves </a:t>
            </a:r>
          </a:p>
          <a:p>
            <a:pPr>
              <a:buNone/>
            </a:pPr>
            <a:endParaRPr lang="en-US" sz="1400" dirty="0"/>
          </a:p>
          <a:p>
            <a:pPr>
              <a:buNone/>
            </a:pPr>
            <a:r>
              <a:rPr lang="en-US" sz="1800" b="1" dirty="0"/>
              <a:t>Ingredients Required:</a:t>
            </a:r>
          </a:p>
          <a:p>
            <a:r>
              <a:rPr lang="en-US" sz="1700" dirty="0"/>
              <a:t>⁠</a:t>
            </a:r>
            <a:r>
              <a:rPr lang="en-US" sz="1500" dirty="0"/>
              <a:t>300g soya chunks</a:t>
            </a:r>
          </a:p>
          <a:p>
            <a:r>
              <a:rPr lang="en-US" sz="1500" dirty="0"/>
              <a:t>3 large onion, sliced</a:t>
            </a:r>
          </a:p>
          <a:p>
            <a:r>
              <a:rPr lang="en-US" sz="1500" dirty="0"/>
              <a:t>2.5 Tsp ginger paste</a:t>
            </a:r>
          </a:p>
          <a:p>
            <a:r>
              <a:rPr lang="en-US" sz="1500" dirty="0"/>
              <a:t> ⁠300g mixed vegetables (carrots, peas, cauliflower, etc.)</a:t>
            </a:r>
          </a:p>
          <a:p>
            <a:r>
              <a:rPr lang="en-US" sz="1500" dirty="0"/>
              <a:t>1 cup fresh coriander leaves</a:t>
            </a:r>
          </a:p>
          <a:p>
            <a:r>
              <a:rPr lang="en-US" sz="1500" dirty="0"/>
              <a:t>1 cup fresh mint leaves</a:t>
            </a:r>
          </a:p>
          <a:p>
            <a:r>
              <a:rPr lang="en-US" sz="1500" dirty="0"/>
              <a:t> ⁠5 tbsp lemon juice</a:t>
            </a:r>
          </a:p>
          <a:p>
            <a:r>
              <a:rPr lang="en-US" sz="1500" dirty="0"/>
              <a:t>⁠150g yogurt</a:t>
            </a:r>
          </a:p>
          <a:p>
            <a:r>
              <a:rPr lang="en-US" sz="1500" dirty="0"/>
              <a:t>750g basmati rice</a:t>
            </a:r>
          </a:p>
          <a:p>
            <a:r>
              <a:rPr lang="en-US" sz="1500" dirty="0"/>
              <a:t>7-8 cups water</a:t>
            </a:r>
          </a:p>
          <a:p>
            <a:r>
              <a:rPr lang="en-US" sz="1500" dirty="0"/>
              <a:t>Whole spices (zeera, </a:t>
            </a:r>
            <a:r>
              <a:rPr lang="en-US" sz="1500" dirty="0" err="1"/>
              <a:t>dalchini</a:t>
            </a:r>
            <a:r>
              <a:rPr lang="en-US" sz="1500" dirty="0"/>
              <a:t>, </a:t>
            </a:r>
            <a:r>
              <a:rPr lang="en-US" sz="1500" dirty="0" err="1"/>
              <a:t>laung</a:t>
            </a:r>
            <a:r>
              <a:rPr lang="en-US" sz="1500" dirty="0"/>
              <a:t>, </a:t>
            </a:r>
            <a:r>
              <a:rPr lang="en-US" sz="1500" dirty="0" err="1"/>
              <a:t>elaichi</a:t>
            </a:r>
            <a:r>
              <a:rPr lang="en-US" sz="1500" dirty="0"/>
              <a:t>, kali </a:t>
            </a:r>
            <a:r>
              <a:rPr lang="en-US" sz="1500" dirty="0" err="1"/>
              <a:t>mirch</a:t>
            </a:r>
            <a:r>
              <a:rPr lang="en-US" sz="1500" dirty="0"/>
              <a:t>)</a:t>
            </a:r>
          </a:p>
          <a:p>
            <a:r>
              <a:rPr lang="en-US" sz="1500" dirty="0"/>
              <a:t>Salt to taste</a:t>
            </a:r>
          </a:p>
          <a:p>
            <a:r>
              <a:rPr lang="en-US" sz="1500" dirty="0"/>
              <a:t>5 Tbsp oil/ghee</a:t>
            </a:r>
          </a:p>
          <a:p>
            <a:r>
              <a:rPr lang="en-US" sz="1500" dirty="0"/>
              <a:t> ⁠2 Tsp. kewra water</a:t>
            </a:r>
          </a:p>
          <a:p>
            <a:r>
              <a:rPr lang="en-US" sz="1500" b="1" dirty="0"/>
              <a:t>Full Kabgeer Veg Biryani Masala </a:t>
            </a:r>
          </a:p>
          <a:p>
            <a:pPr marL="0" indent="0">
              <a:buNone/>
            </a:pPr>
            <a:endParaRPr lang="en-US" sz="1600" dirty="0"/>
          </a:p>
          <a:p>
            <a:pPr marL="0" indent="0">
              <a:buNone/>
            </a:pPr>
            <a:r>
              <a:rPr lang="en-US" sz="1600" b="1" dirty="0"/>
              <a:t>Steps Of Recipe (Serving 10-12):</a:t>
            </a:r>
          </a:p>
          <a:p>
            <a:pPr>
              <a:buAutoNum type="arabicPeriod"/>
            </a:pPr>
            <a:r>
              <a:rPr lang="en-US" sz="1500" dirty="0"/>
              <a:t>Boil, 300g soya chunks in water and drain excess water.</a:t>
            </a:r>
          </a:p>
          <a:p>
            <a:pPr>
              <a:buAutoNum type="arabicPeriod"/>
            </a:pPr>
            <a:r>
              <a:rPr lang="en-US" sz="1500" dirty="0"/>
              <a:t>Heat oil in a pan and sauté sliced onions until golden brown. Add boiled soya chunks and mixed vegetables to it. Cook until tender. Mix full </a:t>
            </a:r>
            <a:r>
              <a:rPr lang="en-US" sz="1500" b="1" dirty="0"/>
              <a:t>Kabgeer Veg Biryani Masala box</a:t>
            </a:r>
            <a:r>
              <a:rPr lang="en-US" sz="1500" dirty="0"/>
              <a:t>, coriander leaves, mint leaves, lemon juice, salt (as per taste) and yogurt. Cook for 2-3 minutes.</a:t>
            </a:r>
          </a:p>
          <a:p>
            <a:pPr>
              <a:buAutoNum type="arabicPeriod"/>
            </a:pPr>
            <a:r>
              <a:rPr lang="en-US" sz="1500" dirty="0"/>
              <a:t>Boil 7-8 cups water with whole spices and salt (as per taste). Add 750g  basmati rice and cook until 70% done. Drain excess water.</a:t>
            </a:r>
          </a:p>
          <a:p>
            <a:pPr>
              <a:buAutoNum type="arabicPeriod"/>
            </a:pPr>
            <a:r>
              <a:rPr lang="en-US" sz="1500" dirty="0"/>
              <a:t>Layer cooked soya chunk mixture and partially cooked rice in a pot or handi. Drizzle oil/ghee, kewra water and edible food color (optional) from top.</a:t>
            </a:r>
          </a:p>
          <a:p>
            <a:pPr>
              <a:buAutoNum type="arabicPeriod"/>
            </a:pPr>
            <a:r>
              <a:rPr lang="en-US" sz="1500" dirty="0"/>
              <a:t>⁠Cover and steam (Dum) on low heat for 10-15 minutes to blend flavors. </a:t>
            </a:r>
          </a:p>
          <a:p>
            <a:pPr>
              <a:buAutoNum type="arabicPeriod"/>
            </a:pPr>
            <a:r>
              <a:rPr lang="en-US" sz="1500" dirty="0"/>
              <a:t>Serve hot. Your Kabgeer Veg Biryani is ready to be served with Raita, </a:t>
            </a:r>
            <a:r>
              <a:rPr lang="en-US" sz="1500" dirty="0" err="1"/>
              <a:t>papad</a:t>
            </a:r>
            <a:r>
              <a:rPr lang="en-US" sz="1500" dirty="0"/>
              <a:t> and green chutney.</a:t>
            </a:r>
            <a:endParaRPr lang="en-US" sz="1500" b="1" dirty="0"/>
          </a:p>
          <a:p>
            <a:pPr marL="0" indent="0">
              <a:buNone/>
            </a:pPr>
            <a:endParaRPr lang="en-US" sz="1600" b="1" dirty="0"/>
          </a:p>
          <a:p>
            <a:pPr>
              <a:buNone/>
            </a:pPr>
            <a:r>
              <a:rPr lang="en-US" sz="1600" b="1" dirty="0"/>
              <a:t>Tip from Chef:</a:t>
            </a:r>
          </a:p>
          <a:p>
            <a:pPr>
              <a:buNone/>
            </a:pPr>
            <a:r>
              <a:rPr lang="en-US" sz="1600" dirty="0"/>
              <a:t>Let Kabgeer’s Mutton Biryani rest for </a:t>
            </a:r>
            <a:r>
              <a:rPr lang="en-US" sz="1800" dirty="0"/>
              <a:t>30-45</a:t>
            </a:r>
            <a:r>
              <a:rPr lang="en-US" sz="1600" dirty="0"/>
              <a:t> mins before serving</a:t>
            </a:r>
            <a:r>
              <a:rPr lang="en-US" sz="1400" dirty="0"/>
              <a:t>.</a:t>
            </a:r>
            <a:endParaRPr lang="en-US" sz="1600" b="1" dirty="0"/>
          </a:p>
          <a:p>
            <a:pPr>
              <a:buNone/>
            </a:pPr>
            <a:endParaRPr lang="en-US" sz="1600" b="1" dirty="0"/>
          </a:p>
        </p:txBody>
      </p:sp>
    </p:spTree>
    <p:extLst>
      <p:ext uri="{BB962C8B-B14F-4D97-AF65-F5344CB8AC3E}">
        <p14:creationId xmlns:p14="http://schemas.microsoft.com/office/powerpoint/2010/main" val="343480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0D7ED-06C0-F71E-F5BA-5A782D3ED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8EC21-A329-9F76-908D-16359459EBD7}"/>
              </a:ext>
            </a:extLst>
          </p:cNvPr>
          <p:cNvSpPr>
            <a:spLocks noGrp="1"/>
          </p:cNvSpPr>
          <p:nvPr>
            <p:ph type="title"/>
          </p:nvPr>
        </p:nvSpPr>
        <p:spPr>
          <a:xfrm>
            <a:off x="342900" y="0"/>
            <a:ext cx="6000750" cy="954616"/>
          </a:xfrm>
        </p:spPr>
        <p:txBody>
          <a:bodyPr>
            <a:normAutofit/>
          </a:bodyPr>
          <a:lstStyle/>
          <a:p>
            <a:r>
              <a:rPr lang="en-US" sz="3200" b="1" dirty="0"/>
              <a:t>Pav Bhaji Masala</a:t>
            </a:r>
          </a:p>
        </p:txBody>
      </p:sp>
      <p:sp>
        <p:nvSpPr>
          <p:cNvPr id="4" name="Content Placeholder 2">
            <a:extLst>
              <a:ext uri="{FF2B5EF4-FFF2-40B4-BE49-F238E27FC236}">
                <a16:creationId xmlns:a16="http://schemas.microsoft.com/office/drawing/2014/main" id="{164EF28B-61F7-4B2F-D188-38FB5E2BA2A7}"/>
              </a:ext>
            </a:extLst>
          </p:cNvPr>
          <p:cNvSpPr txBox="1">
            <a:spLocks/>
          </p:cNvSpPr>
          <p:nvPr/>
        </p:nvSpPr>
        <p:spPr>
          <a:xfrm>
            <a:off x="315191" y="1066800"/>
            <a:ext cx="6161809" cy="7620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US" sz="2000" b="1" u="sng" dirty="0"/>
              <a:t>Ingredients</a:t>
            </a:r>
          </a:p>
          <a:p>
            <a:pPr>
              <a:buFont typeface="Arial" pitchFamily="34" charset="0"/>
              <a:buNone/>
            </a:pPr>
            <a:r>
              <a:rPr lang="en-US" sz="1800" dirty="0"/>
              <a:t>Coriander, Iodized Salt, </a:t>
            </a:r>
            <a:r>
              <a:rPr lang="en-US" sz="1800" dirty="0" err="1"/>
              <a:t>Chillies</a:t>
            </a:r>
            <a:r>
              <a:rPr lang="en-US" sz="1800" dirty="0"/>
              <a:t>, Cumin, Dry Mango, Fennel, Ginger Powder, Star Anise, </a:t>
            </a:r>
            <a:r>
              <a:rPr lang="en-US" sz="1800" dirty="0" err="1"/>
              <a:t>Asafoetida</a:t>
            </a:r>
            <a:r>
              <a:rPr lang="en-US" sz="1800" dirty="0"/>
              <a:t>, Cardamom, Cloves and Nutmeg</a:t>
            </a:r>
          </a:p>
          <a:p>
            <a:pPr>
              <a:buFont typeface="Arial" pitchFamily="34" charset="0"/>
              <a:buNone/>
            </a:pPr>
            <a:endParaRPr lang="en-US" sz="1800" dirty="0"/>
          </a:p>
          <a:p>
            <a:pPr>
              <a:buFont typeface="Arial" pitchFamily="34" charset="0"/>
              <a:buNone/>
            </a:pPr>
            <a:endParaRPr lang="en-US" sz="1800" dirty="0"/>
          </a:p>
          <a:p>
            <a:pPr>
              <a:buFont typeface="Arial" pitchFamily="34" charset="0"/>
              <a:buNone/>
            </a:pPr>
            <a:r>
              <a:rPr lang="en-US" sz="1800" b="1" dirty="0"/>
              <a:t>Ingredients Required:</a:t>
            </a:r>
          </a:p>
          <a:p>
            <a:r>
              <a:rPr lang="en-US" sz="1600" dirty="0"/>
              <a:t>250 Mixed vegetables (potatoes, peas, carrots, cauliflower) </a:t>
            </a:r>
          </a:p>
          <a:p>
            <a:r>
              <a:rPr lang="en-US" sz="1600" dirty="0"/>
              <a:t>Butter or oil for cooking</a:t>
            </a:r>
          </a:p>
          <a:p>
            <a:r>
              <a:rPr lang="en-US" sz="1600" dirty="0"/>
              <a:t>⁠1 onion, finely chopped</a:t>
            </a:r>
          </a:p>
          <a:p>
            <a:r>
              <a:rPr lang="en-US" sz="1600" dirty="0"/>
              <a:t>2 tomatoes, finely chopped</a:t>
            </a:r>
          </a:p>
          <a:p>
            <a:r>
              <a:rPr lang="en-US" sz="1600" dirty="0"/>
              <a:t>2 Tbsp Kabgeer Pav Bhaji Masala</a:t>
            </a:r>
          </a:p>
          <a:p>
            <a:pPr marL="457200" lvl="1" indent="0">
              <a:buNone/>
            </a:pPr>
            <a:endParaRPr lang="en-US" sz="1200" dirty="0"/>
          </a:p>
          <a:p>
            <a:pPr>
              <a:buFont typeface="Arial" pitchFamily="34" charset="0"/>
              <a:buNone/>
            </a:pPr>
            <a:r>
              <a:rPr lang="en-US" sz="1600" b="1" dirty="0"/>
              <a:t>Steps of Cooking (3-4 servings) :</a:t>
            </a:r>
          </a:p>
          <a:p>
            <a:pPr>
              <a:buAutoNum type="arabicPeriod"/>
            </a:pPr>
            <a:r>
              <a:rPr lang="en-US" sz="1600" dirty="0"/>
              <a:t>Boil and mash mixed vegetables in a pot.</a:t>
            </a:r>
          </a:p>
          <a:p>
            <a:pPr>
              <a:buAutoNum type="arabicPeriod"/>
            </a:pPr>
            <a:r>
              <a:rPr lang="en-US" sz="1600" dirty="0"/>
              <a:t>Heat butter/oil in a </a:t>
            </a:r>
            <a:r>
              <a:rPr lang="en-US" sz="1600" dirty="0" err="1"/>
              <a:t>kadhai</a:t>
            </a:r>
            <a:r>
              <a:rPr lang="en-US" sz="1600" dirty="0"/>
              <a:t>, sauté chopped onion until golden brown. Add chopped tomatoes and cook until soft.  Add mashed vegetables, </a:t>
            </a:r>
            <a:r>
              <a:rPr lang="en-US" sz="1600" b="1" dirty="0"/>
              <a:t>Kabgeer Pav Bhaji Masala and salt (as per taste)</a:t>
            </a:r>
            <a:r>
              <a:rPr lang="en-US" sz="1600" dirty="0"/>
              <a:t>, mix well. ⁠Serve hot with buttery toasted pav.</a:t>
            </a:r>
          </a:p>
          <a:p>
            <a:pPr>
              <a:buAutoNum type="arabicPeriod"/>
            </a:pPr>
            <a:r>
              <a:rPr lang="en-US" sz="1600" dirty="0"/>
              <a:t>You can also add some lemon juice and chopped cilantro for extra flavor. Enjoy your delicious Pav Bhaji!</a:t>
            </a:r>
          </a:p>
          <a:p>
            <a:pPr marL="0" indent="0">
              <a:buFont typeface="Arial" pitchFamily="34" charset="0"/>
              <a:buNone/>
            </a:pPr>
            <a:endParaRPr lang="en-US" sz="1600" dirty="0"/>
          </a:p>
          <a:p>
            <a:pPr marL="0" indent="0">
              <a:buFont typeface="Arial" pitchFamily="34" charset="0"/>
              <a:buNone/>
            </a:pPr>
            <a:r>
              <a:rPr lang="en-US" sz="1600" b="1" dirty="0"/>
              <a:t>Tip From Chef:</a:t>
            </a:r>
          </a:p>
          <a:p>
            <a:pPr marL="0" indent="0">
              <a:buFont typeface="Arial" pitchFamily="34" charset="0"/>
              <a:buNone/>
            </a:pPr>
            <a:r>
              <a:rPr lang="en-US" sz="1600" dirty="0"/>
              <a:t>Don’t mash the vegetables to make gravy. It tastes better semi-mashed. Add butter and 1tbsp cream on top before serving for better </a:t>
            </a:r>
            <a:r>
              <a:rPr lang="en-US" sz="1600" dirty="0" err="1"/>
              <a:t>flavour</a:t>
            </a:r>
            <a:r>
              <a:rPr lang="en-US" sz="1600" dirty="0"/>
              <a:t>.</a:t>
            </a:r>
          </a:p>
        </p:txBody>
      </p:sp>
    </p:spTree>
    <p:extLst>
      <p:ext uri="{BB962C8B-B14F-4D97-AF65-F5344CB8AC3E}">
        <p14:creationId xmlns:p14="http://schemas.microsoft.com/office/powerpoint/2010/main" val="926364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4BD2-873F-C915-68B6-50C7FBCB2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7DC13-D15B-4EFF-B6A0-22937755577F}"/>
              </a:ext>
            </a:extLst>
          </p:cNvPr>
          <p:cNvSpPr>
            <a:spLocks noGrp="1"/>
          </p:cNvSpPr>
          <p:nvPr>
            <p:ph type="title"/>
          </p:nvPr>
        </p:nvSpPr>
        <p:spPr>
          <a:xfrm>
            <a:off x="342900" y="0"/>
            <a:ext cx="6000750" cy="954616"/>
          </a:xfrm>
        </p:spPr>
        <p:txBody>
          <a:bodyPr>
            <a:normAutofit/>
          </a:bodyPr>
          <a:lstStyle/>
          <a:p>
            <a:r>
              <a:rPr lang="en-US" sz="3200" b="1" dirty="0"/>
              <a:t>Sambhar Masala</a:t>
            </a:r>
          </a:p>
        </p:txBody>
      </p:sp>
      <p:sp>
        <p:nvSpPr>
          <p:cNvPr id="3" name="Content Placeholder 2">
            <a:extLst>
              <a:ext uri="{FF2B5EF4-FFF2-40B4-BE49-F238E27FC236}">
                <a16:creationId xmlns:a16="http://schemas.microsoft.com/office/drawing/2014/main" id="{1A82E6A5-AA41-3866-92A2-DEB783F98D87}"/>
              </a:ext>
            </a:extLst>
          </p:cNvPr>
          <p:cNvSpPr>
            <a:spLocks noGrp="1"/>
          </p:cNvSpPr>
          <p:nvPr>
            <p:ph idx="1"/>
          </p:nvPr>
        </p:nvSpPr>
        <p:spPr>
          <a:xfrm>
            <a:off x="228600" y="914400"/>
            <a:ext cx="6400800" cy="7620000"/>
          </a:xfrm>
        </p:spPr>
        <p:txBody>
          <a:bodyPr>
            <a:normAutofit fontScale="92500" lnSpcReduction="20000"/>
          </a:bodyPr>
          <a:lstStyle/>
          <a:p>
            <a:pPr>
              <a:buNone/>
            </a:pPr>
            <a:r>
              <a:rPr lang="en-US" sz="2000" b="1" u="sng" dirty="0"/>
              <a:t>Ingredients</a:t>
            </a:r>
          </a:p>
          <a:p>
            <a:pPr>
              <a:buNone/>
            </a:pPr>
            <a:r>
              <a:rPr lang="en-US" sz="1800" dirty="0"/>
              <a:t>Chana Dal, White </a:t>
            </a:r>
            <a:r>
              <a:rPr lang="en-US" sz="1800" dirty="0" err="1"/>
              <a:t>Uradh</a:t>
            </a:r>
            <a:r>
              <a:rPr lang="en-US" sz="1800" dirty="0"/>
              <a:t> Dal, Rice, Coriander Seeds, </a:t>
            </a:r>
            <a:r>
              <a:rPr lang="en-IN" sz="1800" dirty="0"/>
              <a:t>Fenugreek seeds, Iodized Salt, Dry Mango, Red Chilies, Citric Acid and Asafoetida.</a:t>
            </a:r>
            <a:endParaRPr lang="en-US" sz="1800" b="1" u="sng" dirty="0"/>
          </a:p>
          <a:p>
            <a:pPr>
              <a:buNone/>
            </a:pPr>
            <a:endParaRPr lang="en-US" sz="1800" dirty="0"/>
          </a:p>
          <a:p>
            <a:pPr>
              <a:buNone/>
            </a:pPr>
            <a:r>
              <a:rPr lang="en-US" sz="1800" b="1" dirty="0"/>
              <a:t>Ingredients Required:</a:t>
            </a:r>
          </a:p>
          <a:p>
            <a:r>
              <a:rPr lang="en-US" sz="1700" dirty="0"/>
              <a:t>⁠100g Toor Dal (split pigeon peas)</a:t>
            </a:r>
          </a:p>
          <a:p>
            <a:r>
              <a:rPr lang="en-US" sz="1700" dirty="0"/>
              <a:t>1 Tbsp Oil or ghee</a:t>
            </a:r>
          </a:p>
          <a:p>
            <a:r>
              <a:rPr lang="en-US" sz="1700" dirty="0"/>
              <a:t>1 cup mixed vegetables (like carrots, potatoes, drumsticks, etc.)</a:t>
            </a:r>
          </a:p>
          <a:p>
            <a:r>
              <a:rPr lang="en-US" sz="1700" dirty="0"/>
              <a:t>1 onion (chopped)</a:t>
            </a:r>
          </a:p>
          <a:p>
            <a:r>
              <a:rPr lang="en-US" sz="1700" dirty="0"/>
              <a:t>2 tomatoes (chopped)</a:t>
            </a:r>
          </a:p>
          <a:p>
            <a:r>
              <a:rPr lang="en-US" sz="1700" dirty="0"/>
              <a:t>2 cups water</a:t>
            </a:r>
          </a:p>
          <a:p>
            <a:r>
              <a:rPr lang="en-US" sz="1700" dirty="0"/>
              <a:t>1 Tbsp Tamarind pulp (as needed)</a:t>
            </a:r>
          </a:p>
          <a:p>
            <a:r>
              <a:rPr lang="en-US" sz="1700" dirty="0"/>
              <a:t>1Tsp Mustard seed</a:t>
            </a:r>
          </a:p>
          <a:p>
            <a:r>
              <a:rPr lang="en-US" sz="1700" dirty="0"/>
              <a:t>8-10 Curry leaves</a:t>
            </a:r>
          </a:p>
          <a:p>
            <a:r>
              <a:rPr lang="en-US" sz="1700" dirty="0"/>
              <a:t>1.5 Tbsp </a:t>
            </a:r>
            <a:r>
              <a:rPr lang="en-US" sz="1700" b="1" dirty="0"/>
              <a:t>Kabgeer Sambhar Masala</a:t>
            </a:r>
          </a:p>
          <a:p>
            <a:pPr marL="0" indent="0">
              <a:buNone/>
            </a:pPr>
            <a:endParaRPr lang="en-US" sz="1600" b="1" dirty="0"/>
          </a:p>
          <a:p>
            <a:pPr>
              <a:buNone/>
            </a:pPr>
            <a:r>
              <a:rPr lang="en-US" sz="1600" b="1" dirty="0"/>
              <a:t>Steps Of Cooking:</a:t>
            </a:r>
          </a:p>
          <a:p>
            <a:r>
              <a:rPr lang="en-US" sz="1800" dirty="0"/>
              <a:t>Cook Toor dal in 2 cups water with salt (as per taste) until soft.</a:t>
            </a:r>
          </a:p>
          <a:p>
            <a:r>
              <a:rPr lang="en-US" sz="1800" dirty="0"/>
              <a:t>In a pan, heat oil, sauté chopped onion until golden brown. Add mixed vegetables, cook until tender. Add chopped tomatoes, </a:t>
            </a:r>
            <a:r>
              <a:rPr lang="en-US" sz="1800" b="1" dirty="0"/>
              <a:t>Kabgeer Sambhar Masala</a:t>
            </a:r>
            <a:r>
              <a:rPr lang="en-US" sz="1800" dirty="0"/>
              <a:t>, and tamarind pulp.</a:t>
            </a:r>
          </a:p>
          <a:p>
            <a:r>
              <a:rPr lang="en-US" sz="1800" dirty="0"/>
              <a:t>Mix cooked dal with vegetable mixture and salt (as per taste). Simmer until flavors blend.</a:t>
            </a:r>
          </a:p>
          <a:p>
            <a:r>
              <a:rPr lang="en-US" sz="1800" dirty="0"/>
              <a:t>In a pan, add Oil/ghee, mustard seeds and curry leaves for tempering.</a:t>
            </a:r>
          </a:p>
          <a:p>
            <a:r>
              <a:rPr lang="en-US" sz="1800" dirty="0"/>
              <a:t>⁠Serve hot, Kabgeer’s Sambhar Dal with Idli, Dosa, or Rice. </a:t>
            </a:r>
          </a:p>
          <a:p>
            <a:endParaRPr lang="en-US" sz="1600" dirty="0"/>
          </a:p>
          <a:p>
            <a:pPr>
              <a:buNone/>
            </a:pPr>
            <a:r>
              <a:rPr lang="en-US" sz="1600" b="1" dirty="0"/>
              <a:t>Tip from Chef:</a:t>
            </a:r>
          </a:p>
          <a:p>
            <a:pPr>
              <a:buNone/>
            </a:pPr>
            <a:r>
              <a:rPr lang="en-US" sz="1600" dirty="0"/>
              <a:t>Adjust masala as per taste</a:t>
            </a:r>
          </a:p>
        </p:txBody>
      </p:sp>
    </p:spTree>
    <p:extLst>
      <p:ext uri="{BB962C8B-B14F-4D97-AF65-F5344CB8AC3E}">
        <p14:creationId xmlns:p14="http://schemas.microsoft.com/office/powerpoint/2010/main" val="240545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4644</TotalTime>
  <Words>5080</Words>
  <Application>Microsoft Macintosh PowerPoint</Application>
  <PresentationFormat>On-screen Show (4:3)</PresentationFormat>
  <Paragraphs>540</Paragraphs>
  <Slides>29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Aharoni</vt:lpstr>
      <vt:lpstr>Arial</vt:lpstr>
      <vt:lpstr>Calibri</vt:lpstr>
      <vt:lpstr>Office Theme</vt:lpstr>
      <vt:lpstr>Masala Recipe</vt:lpstr>
      <vt:lpstr>SKU’s</vt:lpstr>
      <vt:lpstr>Mutton Stew Masala</vt:lpstr>
      <vt:lpstr>Chicken Korma Masala </vt:lpstr>
      <vt:lpstr>Mutton Nihari Masala </vt:lpstr>
      <vt:lpstr>Shami Kebab Masala</vt:lpstr>
      <vt:lpstr>Galauti Kebab Masala</vt:lpstr>
      <vt:lpstr>Awadhi Tikka Boti Masala</vt:lpstr>
      <vt:lpstr>Non-Veg Tandoori Masala</vt:lpstr>
      <vt:lpstr>Veg Tandoori Masala</vt:lpstr>
      <vt:lpstr>Garam Masala</vt:lpstr>
      <vt:lpstr>Ginger Powder</vt:lpstr>
      <vt:lpstr>Garlic Powder</vt:lpstr>
      <vt:lpstr>Meat Tenderizer</vt:lpstr>
      <vt:lpstr>Kadhai Paneer Masala</vt:lpstr>
      <vt:lpstr>Sabzi Masala</vt:lpstr>
      <vt:lpstr>Chaat Masala</vt:lpstr>
      <vt:lpstr>Kitchen King Masala</vt:lpstr>
      <vt:lpstr>Red Chilli Powder</vt:lpstr>
      <vt:lpstr>Turmeric  Powder</vt:lpstr>
      <vt:lpstr>  Corriander Powder</vt:lpstr>
      <vt:lpstr>Paneer Butter Masala</vt:lpstr>
      <vt:lpstr>Chole Masala</vt:lpstr>
      <vt:lpstr>Kashmiri Lal Mirch Powder</vt:lpstr>
      <vt:lpstr>Chicken Biryani Masala</vt:lpstr>
      <vt:lpstr>Mutton Biryani Masala</vt:lpstr>
      <vt:lpstr>Veg Biryani Masala</vt:lpstr>
      <vt:lpstr>Pav Bhaji Masala</vt:lpstr>
      <vt:lpstr>Sambhar Masala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Masala Recipe</dc:title>
  <dc:creator>FARHAN MIRZA</dc:creator>
  <cp:lastModifiedBy>Areej Mirza</cp:lastModifiedBy>
  <cp:revision>159</cp:revision>
  <dcterms:created xsi:type="dcterms:W3CDTF">2023-04-26T09:56:51Z</dcterms:created>
  <dcterms:modified xsi:type="dcterms:W3CDTF">2025-08-13T07:51:52Z</dcterms:modified>
</cp:coreProperties>
</file>